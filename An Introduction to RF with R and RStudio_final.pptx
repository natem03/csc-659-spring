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7" r:id="rId3"/>
    <p:sldId id="258" r:id="rId4"/>
    <p:sldId id="259" r:id="rId5"/>
    <p:sldId id="260" r:id="rId6"/>
    <p:sldId id="261" r:id="rId7"/>
    <p:sldId id="262" r:id="rId8"/>
    <p:sldId id="275" r:id="rId9"/>
    <p:sldId id="264" r:id="rId10"/>
    <p:sldId id="263" r:id="rId11"/>
    <p:sldId id="265" r:id="rId12"/>
    <p:sldId id="266" r:id="rId13"/>
    <p:sldId id="267" r:id="rId14"/>
    <p:sldId id="268" r:id="rId15"/>
    <p:sldId id="269" r:id="rId16"/>
    <p:sldId id="276" r:id="rId17"/>
    <p:sldId id="271" r:id="rId18"/>
    <p:sldId id="272" r:id="rId19"/>
    <p:sldId id="273" r:id="rId20"/>
    <p:sldId id="277" r:id="rId21"/>
    <p:sldId id="278" r:id="rId22"/>
    <p:sldId id="279" r:id="rId23"/>
    <p:sldId id="281" r:id="rId24"/>
    <p:sldId id="282" r:id="rId25"/>
    <p:sldId id="283" r:id="rId26"/>
    <p:sldId id="28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enneth Rauen" initials="KR" lastIdx="1" clrIdx="0">
    <p:extLst>
      <p:ext uri="{19B8F6BF-5375-455C-9EA6-DF929625EA0E}">
        <p15:presenceInfo xmlns:p15="http://schemas.microsoft.com/office/powerpoint/2012/main" userId="d2acb24cadb5bec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autoAdjust="0"/>
    <p:restoredTop sz="94660"/>
  </p:normalViewPr>
  <p:slideViewPr>
    <p:cSldViewPr snapToGrid="0">
      <p:cViewPr varScale="1">
        <p:scale>
          <a:sx n="66" d="100"/>
          <a:sy n="66" d="100"/>
        </p:scale>
        <p:origin x="638" y="3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3-18T12:54:37.158" idx="1">
    <p:pos x="10" y="10"/>
    <p:text/>
    <p:extLst>
      <p:ext uri="{C676402C-5697-4E1C-873F-D02D1690AC5C}">
        <p15:threadingInfo xmlns:p15="http://schemas.microsoft.com/office/powerpoint/2012/main" timeZoneBias="42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2986071-2400-4BA2-B69D-50B6F173DFCD}"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8BA43-8DB1-4C12-9C29-87875C99A61F}"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5770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986071-2400-4BA2-B69D-50B6F173DFCD}"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8BA43-8DB1-4C12-9C29-87875C99A61F}" type="slidenum">
              <a:rPr lang="en-US" smtClean="0"/>
              <a:pPr/>
              <a:t>‹#›</a:t>
            </a:fld>
            <a:endParaRPr lang="en-US"/>
          </a:p>
        </p:txBody>
      </p:sp>
    </p:spTree>
    <p:extLst>
      <p:ext uri="{BB962C8B-B14F-4D97-AF65-F5344CB8AC3E}">
        <p14:creationId xmlns:p14="http://schemas.microsoft.com/office/powerpoint/2010/main" val="1773753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986071-2400-4BA2-B69D-50B6F173DFCD}"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8BA43-8DB1-4C12-9C29-87875C99A61F}"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0065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986071-2400-4BA2-B69D-50B6F173DFCD}" type="datetimeFigureOut">
              <a:rPr lang="en-US" smtClean="0"/>
              <a:pPr/>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C8BA43-8DB1-4C12-9C29-87875C99A61F}" type="slidenum">
              <a:rPr lang="en-US" smtClean="0"/>
              <a:pPr/>
              <a:t>‹#›</a:t>
            </a:fld>
            <a:endParaRPr lang="en-US"/>
          </a:p>
        </p:txBody>
      </p:sp>
    </p:spTree>
    <p:extLst>
      <p:ext uri="{BB962C8B-B14F-4D97-AF65-F5344CB8AC3E}">
        <p14:creationId xmlns:p14="http://schemas.microsoft.com/office/powerpoint/2010/main" val="2375781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986071-2400-4BA2-B69D-50B6F173DFCD}" type="datetimeFigureOut">
              <a:rPr lang="en-US" smtClean="0"/>
              <a:pPr/>
              <a:t>2/15/2026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C8BA43-8DB1-4C12-9C29-87875C99A61F}" type="slidenum">
              <a:rPr lang="en-US" smtClean="0"/>
              <a:pPr/>
              <a:t>‹#›</a:t>
            </a:fld>
            <a:endParaRPr lang="en-US"/>
          </a:p>
        </p:txBody>
      </p:sp>
    </p:spTree>
    <p:extLst>
      <p:ext uri="{BB962C8B-B14F-4D97-AF65-F5344CB8AC3E}">
        <p14:creationId xmlns:p14="http://schemas.microsoft.com/office/powerpoint/2010/main" val="3729298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2986071-2400-4BA2-B69D-50B6F173DFCD}" type="datetimeFigureOut">
              <a:rPr lang="en-US" smtClean="0"/>
              <a:pPr/>
              <a:t>2/15/2026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C8BA43-8DB1-4C12-9C29-87875C99A61F}" type="slidenum">
              <a:rPr lang="en-US" smtClean="0"/>
              <a:pPr/>
              <a:t>‹#›</a:t>
            </a:fld>
            <a:endParaRPr lang="en-US"/>
          </a:p>
        </p:txBody>
      </p:sp>
    </p:spTree>
    <p:extLst>
      <p:ext uri="{BB962C8B-B14F-4D97-AF65-F5344CB8AC3E}">
        <p14:creationId xmlns:p14="http://schemas.microsoft.com/office/powerpoint/2010/main" val="3242123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2986071-2400-4BA2-B69D-50B6F173DFCD}" type="datetimeFigureOut">
              <a:rPr lang="en-US" smtClean="0"/>
              <a:pPr/>
              <a:t>2/15/2026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7C8BA43-8DB1-4C12-9C29-87875C99A61F}" type="slidenum">
              <a:rPr lang="en-US" smtClean="0"/>
              <a:pPr/>
              <a:t>‹#›</a:t>
            </a:fld>
            <a:endParaRPr lang="en-US"/>
          </a:p>
        </p:txBody>
      </p:sp>
    </p:spTree>
    <p:extLst>
      <p:ext uri="{BB962C8B-B14F-4D97-AF65-F5344CB8AC3E}">
        <p14:creationId xmlns:p14="http://schemas.microsoft.com/office/powerpoint/2010/main" val="3522093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2986071-2400-4BA2-B69D-50B6F173DFCD}" type="datetimeFigureOut">
              <a:rPr lang="en-US" smtClean="0"/>
              <a:pPr/>
              <a:t>2/15/2026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7C8BA43-8DB1-4C12-9C29-87875C99A61F}" type="slidenum">
              <a:rPr lang="en-US" smtClean="0"/>
              <a:pPr/>
              <a:t>‹#›</a:t>
            </a:fld>
            <a:endParaRPr lang="en-US"/>
          </a:p>
        </p:txBody>
      </p:sp>
    </p:spTree>
    <p:extLst>
      <p:ext uri="{BB962C8B-B14F-4D97-AF65-F5344CB8AC3E}">
        <p14:creationId xmlns:p14="http://schemas.microsoft.com/office/powerpoint/2010/main" val="328283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cstate="print"/>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986071-2400-4BA2-B69D-50B6F173DFCD}" type="datetimeFigureOut">
              <a:rPr lang="en-US" smtClean="0"/>
              <a:pPr/>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C8BA43-8DB1-4C12-9C29-87875C99A61F}" type="slidenum">
              <a:rPr lang="en-US" smtClean="0"/>
              <a:pPr/>
              <a:t>‹#›</a:t>
            </a:fld>
            <a:endParaRPr lang="en-US"/>
          </a:p>
        </p:txBody>
      </p:sp>
    </p:spTree>
    <p:extLst>
      <p:ext uri="{BB962C8B-B14F-4D97-AF65-F5344CB8AC3E}">
        <p14:creationId xmlns:p14="http://schemas.microsoft.com/office/powerpoint/2010/main" val="3115445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986071-2400-4BA2-B69D-50B6F173DFCD}"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8BA43-8DB1-4C12-9C29-87875C99A61F}" type="slidenum">
              <a:rPr lang="en-US" smtClean="0"/>
              <a:pPr/>
              <a:t>‹#›</a:t>
            </a:fld>
            <a:endParaRPr lang="en-US"/>
          </a:p>
        </p:txBody>
      </p:sp>
    </p:spTree>
    <p:extLst>
      <p:ext uri="{BB962C8B-B14F-4D97-AF65-F5344CB8AC3E}">
        <p14:creationId xmlns:p14="http://schemas.microsoft.com/office/powerpoint/2010/main" val="318798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986071-2400-4BA2-B69D-50B6F173DFCD}"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8BA43-8DB1-4C12-9C29-87875C99A61F}" type="slidenum">
              <a:rPr lang="en-US" smtClean="0"/>
              <a:pPr/>
              <a:t>‹#›</a:t>
            </a:fld>
            <a:endParaRPr lang="en-US"/>
          </a:p>
        </p:txBody>
      </p:sp>
    </p:spTree>
    <p:extLst>
      <p:ext uri="{BB962C8B-B14F-4D97-AF65-F5344CB8AC3E}">
        <p14:creationId xmlns:p14="http://schemas.microsoft.com/office/powerpoint/2010/main" val="4123658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2986071-2400-4BA2-B69D-50B6F173DFCD}" type="datetimeFigureOut">
              <a:rPr lang="en-US" smtClean="0"/>
              <a:pPr/>
              <a:t>2/15/2026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7C8BA43-8DB1-4C12-9C29-87875C99A61F}" type="slidenum">
              <a:rPr lang="en-US" smtClean="0"/>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12526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youtube.com/watch?v=Zjb-TymyST4"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youtube.com/watch?v=pXd54-vucu0"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hyperlink" Target="https://rstudio.com/products/rstudio/download/" TargetMode="External"/><Relationship Id="rId2" Type="http://schemas.openxmlformats.org/officeDocument/2006/relationships/hyperlink" Target="https://cran.rstudio.co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uru99.com/r-random-forest-tutorial.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r-bloggers.com/how-to-implement-random-forests-in-r/"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rdrr.io/rforge/randomForest/man/na.roughfix.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32AD-7FDD-4F12-9CD5-B36FA0A7EE12}"/>
              </a:ext>
            </a:extLst>
          </p:cNvPr>
          <p:cNvSpPr>
            <a:spLocks noGrp="1"/>
          </p:cNvSpPr>
          <p:nvPr>
            <p:ph type="ctrTitle"/>
          </p:nvPr>
        </p:nvSpPr>
        <p:spPr>
          <a:xfrm>
            <a:off x="1066800" y="1212474"/>
            <a:ext cx="10058400" cy="1922732"/>
          </a:xfrm>
        </p:spPr>
        <p:txBody>
          <a:bodyPr>
            <a:normAutofit/>
          </a:bodyPr>
          <a:lstStyle/>
          <a:p>
            <a:pPr algn="ctr"/>
            <a:r>
              <a:rPr lang="en-US" sz="6600" dirty="0"/>
              <a:t>An Introduction to RF with R and R Studio</a:t>
            </a:r>
          </a:p>
        </p:txBody>
      </p:sp>
      <p:sp>
        <p:nvSpPr>
          <p:cNvPr id="3" name="Subtitle 2">
            <a:extLst>
              <a:ext uri="{FF2B5EF4-FFF2-40B4-BE49-F238E27FC236}">
                <a16:creationId xmlns:a16="http://schemas.microsoft.com/office/drawing/2014/main" id="{46193AB3-B8D8-4D3D-B936-AAC8868FFED8}"/>
              </a:ext>
            </a:extLst>
          </p:cNvPr>
          <p:cNvSpPr>
            <a:spLocks noGrp="1"/>
          </p:cNvSpPr>
          <p:nvPr>
            <p:ph type="subTitle" idx="1"/>
          </p:nvPr>
        </p:nvSpPr>
        <p:spPr>
          <a:xfrm>
            <a:off x="1066800" y="3867791"/>
            <a:ext cx="10058400" cy="1143000"/>
          </a:xfrm>
        </p:spPr>
        <p:txBody>
          <a:bodyPr>
            <a:normAutofit fontScale="85000" lnSpcReduction="20000"/>
          </a:bodyPr>
          <a:lstStyle/>
          <a:p>
            <a:pPr algn="ctr"/>
            <a:r>
              <a:rPr lang="en-US" dirty="0"/>
              <a:t>CSC 859, Spring 2020</a:t>
            </a:r>
          </a:p>
          <a:p>
            <a:pPr algn="ctr"/>
            <a:r>
              <a:rPr lang="en-US" dirty="0"/>
              <a:t>Ken </a:t>
            </a:r>
            <a:r>
              <a:rPr lang="en-US" dirty="0" err="1" smtClean="0"/>
              <a:t>Rauen</a:t>
            </a:r>
            <a:r>
              <a:rPr lang="en-US" dirty="0" smtClean="0"/>
              <a:t>, with help from V. </a:t>
            </a:r>
            <a:r>
              <a:rPr lang="en-US" dirty="0" err="1" smtClean="0"/>
              <a:t>Sura</a:t>
            </a:r>
            <a:r>
              <a:rPr lang="en-US" dirty="0" smtClean="0"/>
              <a:t> </a:t>
            </a:r>
          </a:p>
          <a:p>
            <a:pPr algn="ctr"/>
            <a:r>
              <a:rPr lang="en-US" dirty="0" smtClean="0"/>
              <a:t>SFSU</a:t>
            </a:r>
            <a:endParaRPr lang="en-US" dirty="0"/>
          </a:p>
        </p:txBody>
      </p:sp>
    </p:spTree>
    <p:extLst>
      <p:ext uri="{BB962C8B-B14F-4D97-AF65-F5344CB8AC3E}">
        <p14:creationId xmlns:p14="http://schemas.microsoft.com/office/powerpoint/2010/main" val="2472693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5F1CA-3045-4296-BE8D-8E50E2958AAA}"/>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5AD437C8-141B-423E-AFA8-08E89297095C}"/>
              </a:ext>
            </a:extLst>
          </p:cNvPr>
          <p:cNvSpPr>
            <a:spLocks noGrp="1"/>
          </p:cNvSpPr>
          <p:nvPr>
            <p:ph idx="1"/>
          </p:nvPr>
        </p:nvSpPr>
        <p:spPr/>
        <p:txBody>
          <a:bodyPr/>
          <a:lstStyle/>
          <a:p>
            <a:r>
              <a:rPr lang="en-US" dirty="0"/>
              <a:t>1. Introduction</a:t>
            </a:r>
          </a:p>
          <a:p>
            <a:r>
              <a:rPr lang="en-US" dirty="0"/>
              <a:t>2. Installing R Studio via Anaconda</a:t>
            </a:r>
          </a:p>
          <a:p>
            <a:r>
              <a:rPr lang="en-US" dirty="0"/>
              <a:t>3. RF Tutorial using R Studio</a:t>
            </a:r>
          </a:p>
          <a:p>
            <a:r>
              <a:rPr lang="en-US" dirty="0"/>
              <a:t>4. Common issues </a:t>
            </a:r>
          </a:p>
          <a:p>
            <a:pPr marL="0" indent="0">
              <a:buNone/>
            </a:pPr>
            <a:endParaRPr lang="en-US" dirty="0"/>
          </a:p>
          <a:p>
            <a:endParaRPr lang="en-US" dirty="0"/>
          </a:p>
        </p:txBody>
      </p:sp>
    </p:spTree>
    <p:extLst>
      <p:ext uri="{BB962C8B-B14F-4D97-AF65-F5344CB8AC3E}">
        <p14:creationId xmlns:p14="http://schemas.microsoft.com/office/powerpoint/2010/main" val="3103512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B7F75-C194-4DB5-B6F1-A39DC5315B21}"/>
              </a:ext>
            </a:extLst>
          </p:cNvPr>
          <p:cNvSpPr>
            <a:spLocks noGrp="1"/>
          </p:cNvSpPr>
          <p:nvPr>
            <p:ph type="title"/>
          </p:nvPr>
        </p:nvSpPr>
        <p:spPr/>
        <p:txBody>
          <a:bodyPr/>
          <a:lstStyle/>
          <a:p>
            <a:r>
              <a:rPr lang="en-US" dirty="0"/>
              <a:t>What is R?</a:t>
            </a:r>
          </a:p>
        </p:txBody>
      </p:sp>
      <p:sp>
        <p:nvSpPr>
          <p:cNvPr id="3" name="Content Placeholder 2">
            <a:extLst>
              <a:ext uri="{FF2B5EF4-FFF2-40B4-BE49-F238E27FC236}">
                <a16:creationId xmlns:a16="http://schemas.microsoft.com/office/drawing/2014/main" id="{CCF3CF97-CA13-42D8-A9D7-EA5EDFB8F810}"/>
              </a:ext>
            </a:extLst>
          </p:cNvPr>
          <p:cNvSpPr>
            <a:spLocks noGrp="1"/>
          </p:cNvSpPr>
          <p:nvPr>
            <p:ph idx="1"/>
          </p:nvPr>
        </p:nvSpPr>
        <p:spPr/>
        <p:txBody>
          <a:bodyPr/>
          <a:lstStyle/>
          <a:p>
            <a:pPr>
              <a:buFont typeface="Arial" panose="020B0604020202020204" pitchFamily="34" charset="0"/>
              <a:buChar char="•"/>
            </a:pPr>
            <a:r>
              <a:rPr lang="en-US" dirty="0"/>
              <a:t> R is a programming language/ environment that is used for statistical computing and graphics (which includes AI/ ML) ‘</a:t>
            </a:r>
          </a:p>
          <a:p>
            <a:pPr>
              <a:buFont typeface="Arial" panose="020B0604020202020204" pitchFamily="34" charset="0"/>
              <a:buChar char="•"/>
            </a:pPr>
            <a:r>
              <a:rPr lang="en-US" dirty="0"/>
              <a:t>Released in 1993, R in recent years has been consistently listed among the top computer languages used in industry and beyond, being one of the most commonly used for running stats and data analysis as a whole.</a:t>
            </a:r>
          </a:p>
          <a:p>
            <a:pPr>
              <a:buFont typeface="Arial" panose="020B0604020202020204" pitchFamily="34" charset="0"/>
              <a:buChar char="•"/>
            </a:pPr>
            <a:r>
              <a:rPr lang="en-US" dirty="0"/>
              <a:t>Includes robust library with even more open-source packages available online  </a:t>
            </a:r>
            <a:br>
              <a:rPr lang="en-US" dirty="0"/>
            </a:b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174968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798F2-3CEB-45A6-93BB-5B164BE091EB}"/>
              </a:ext>
            </a:extLst>
          </p:cNvPr>
          <p:cNvSpPr>
            <a:spLocks noGrp="1"/>
          </p:cNvSpPr>
          <p:nvPr>
            <p:ph type="title"/>
          </p:nvPr>
        </p:nvSpPr>
        <p:spPr/>
        <p:txBody>
          <a:bodyPr/>
          <a:lstStyle/>
          <a:p>
            <a:r>
              <a:rPr lang="en-US" dirty="0"/>
              <a:t>What is R Studio? </a:t>
            </a:r>
          </a:p>
        </p:txBody>
      </p:sp>
      <p:sp>
        <p:nvSpPr>
          <p:cNvPr id="3" name="Content Placeholder 2">
            <a:extLst>
              <a:ext uri="{FF2B5EF4-FFF2-40B4-BE49-F238E27FC236}">
                <a16:creationId xmlns:a16="http://schemas.microsoft.com/office/drawing/2014/main" id="{9D2DF65A-B366-4A06-B2C2-BCF945B0E79D}"/>
              </a:ext>
            </a:extLst>
          </p:cNvPr>
          <p:cNvSpPr>
            <a:spLocks noGrp="1"/>
          </p:cNvSpPr>
          <p:nvPr>
            <p:ph idx="1"/>
          </p:nvPr>
        </p:nvSpPr>
        <p:spPr/>
        <p:txBody>
          <a:bodyPr/>
          <a:lstStyle/>
          <a:p>
            <a:pPr>
              <a:buFont typeface="Arial" panose="020B0604020202020204" pitchFamily="34" charset="0"/>
              <a:buChar char="•"/>
            </a:pPr>
            <a:r>
              <a:rPr lang="en-US" dirty="0"/>
              <a:t>R Studio is an IDE (integrated development environment) for R that serves as a user interface for working with R. </a:t>
            </a:r>
          </a:p>
          <a:p>
            <a:pPr>
              <a:buFont typeface="Arial" panose="020B0604020202020204" pitchFamily="34" charset="0"/>
              <a:buChar char="•"/>
            </a:pPr>
            <a:r>
              <a:rPr lang="en-US" dirty="0"/>
              <a:t>Being that it is built upon R, you can do everything you would normally do in R with R Studio, with the added benefit of being able to utilize a graphical user interface (i.e. you can click on stuff instead of doing everything in the terminal). </a:t>
            </a:r>
          </a:p>
          <a:p>
            <a:pPr>
              <a:buFont typeface="Arial" panose="020B0604020202020204" pitchFamily="34" charset="0"/>
              <a:buChar char="•"/>
            </a:pPr>
            <a:r>
              <a:rPr lang="en-US" dirty="0"/>
              <a:t>Conveniently, R Studio can be installed through Anaconda (as we used to install python), so you can download, install, and launch R Studio through your existing Anaconda installation. </a:t>
            </a:r>
            <a:br>
              <a:rPr lang="en-US" dirty="0"/>
            </a:br>
            <a:r>
              <a:rPr lang="en-US" dirty="0"/>
              <a:t>	</a:t>
            </a:r>
            <a:r>
              <a:rPr lang="en-US" dirty="0">
                <a:solidFill>
                  <a:srgbClr val="FF0000"/>
                </a:solidFill>
              </a:rPr>
              <a:t>(Note, the installation of R Studio includes with it the R language, so don’t worry about having to install R </a:t>
            </a:r>
            <a:r>
              <a:rPr lang="en-US" dirty="0" err="1">
                <a:solidFill>
                  <a:srgbClr val="FF0000"/>
                </a:solidFill>
              </a:rPr>
              <a:t>seperatly</a:t>
            </a:r>
            <a:r>
              <a:rPr lang="en-US" dirty="0">
                <a:solidFill>
                  <a:srgbClr val="FF0000"/>
                </a:solidFill>
              </a:rPr>
              <a:t>, for it will already be handled for you)</a:t>
            </a:r>
          </a:p>
        </p:txBody>
      </p:sp>
    </p:spTree>
    <p:extLst>
      <p:ext uri="{BB962C8B-B14F-4D97-AF65-F5344CB8AC3E}">
        <p14:creationId xmlns:p14="http://schemas.microsoft.com/office/powerpoint/2010/main" val="512154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ACD0F-47B3-40DF-BF69-D659E15C98E1}"/>
              </a:ext>
            </a:extLst>
          </p:cNvPr>
          <p:cNvSpPr>
            <a:spLocks noGrp="1"/>
          </p:cNvSpPr>
          <p:nvPr>
            <p:ph type="title"/>
          </p:nvPr>
        </p:nvSpPr>
        <p:spPr/>
        <p:txBody>
          <a:bodyPr/>
          <a:lstStyle/>
          <a:p>
            <a:r>
              <a:rPr lang="en-US" dirty="0"/>
              <a:t>Installing R Studio in Anaconda </a:t>
            </a:r>
          </a:p>
        </p:txBody>
      </p:sp>
      <p:sp>
        <p:nvSpPr>
          <p:cNvPr id="3" name="Content Placeholder 2">
            <a:extLst>
              <a:ext uri="{FF2B5EF4-FFF2-40B4-BE49-F238E27FC236}">
                <a16:creationId xmlns:a16="http://schemas.microsoft.com/office/drawing/2014/main" id="{D5F6950D-391C-4919-92CA-31F531B58F58}"/>
              </a:ext>
            </a:extLst>
          </p:cNvPr>
          <p:cNvSpPr>
            <a:spLocks noGrp="1"/>
          </p:cNvSpPr>
          <p:nvPr>
            <p:ph idx="1"/>
          </p:nvPr>
        </p:nvSpPr>
        <p:spPr/>
        <p:txBody>
          <a:bodyPr/>
          <a:lstStyle/>
          <a:p>
            <a:r>
              <a:rPr lang="en-US" dirty="0"/>
              <a:t>1) First, you want to launch your existing installation of </a:t>
            </a:r>
            <a:r>
              <a:rPr lang="en-US" dirty="0">
                <a:solidFill>
                  <a:srgbClr val="00B050"/>
                </a:solidFill>
              </a:rPr>
              <a:t>Anaconda Navigator</a:t>
            </a:r>
            <a:r>
              <a:rPr lang="en-US" dirty="0"/>
              <a:t>. You should see a box for R Studio, as shown here, circled in red. </a:t>
            </a:r>
          </a:p>
        </p:txBody>
      </p:sp>
      <p:pic>
        <p:nvPicPr>
          <p:cNvPr id="5" name="Picture 4">
            <a:extLst>
              <a:ext uri="{FF2B5EF4-FFF2-40B4-BE49-F238E27FC236}">
                <a16:creationId xmlns:a16="http://schemas.microsoft.com/office/drawing/2014/main" id="{7E792F6C-5CCE-428F-95CC-DC965D74C5F0}"/>
              </a:ext>
            </a:extLst>
          </p:cNvPr>
          <p:cNvPicPr>
            <a:picLocks noChangeAspect="1"/>
          </p:cNvPicPr>
          <p:nvPr/>
        </p:nvPicPr>
        <p:blipFill>
          <a:blip r:embed="rId2" cstate="print"/>
          <a:stretch>
            <a:fillRect/>
          </a:stretch>
        </p:blipFill>
        <p:spPr>
          <a:xfrm>
            <a:off x="2453640" y="2479888"/>
            <a:ext cx="6868160" cy="3863340"/>
          </a:xfrm>
          <a:prstGeom prst="rect">
            <a:avLst/>
          </a:prstGeom>
        </p:spPr>
      </p:pic>
      <p:sp>
        <p:nvSpPr>
          <p:cNvPr id="6" name="Oval 5">
            <a:extLst>
              <a:ext uri="{FF2B5EF4-FFF2-40B4-BE49-F238E27FC236}">
                <a16:creationId xmlns:a16="http://schemas.microsoft.com/office/drawing/2014/main" id="{D8EE46EC-D74F-4EA9-96E6-9A7C01143C81}"/>
              </a:ext>
            </a:extLst>
          </p:cNvPr>
          <p:cNvSpPr/>
          <p:nvPr/>
        </p:nvSpPr>
        <p:spPr>
          <a:xfrm>
            <a:off x="4856480" y="4084321"/>
            <a:ext cx="1473200" cy="14020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2628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ACD0F-47B3-40DF-BF69-D659E15C98E1}"/>
              </a:ext>
            </a:extLst>
          </p:cNvPr>
          <p:cNvSpPr>
            <a:spLocks noGrp="1"/>
          </p:cNvSpPr>
          <p:nvPr>
            <p:ph type="title"/>
          </p:nvPr>
        </p:nvSpPr>
        <p:spPr/>
        <p:txBody>
          <a:bodyPr/>
          <a:lstStyle/>
          <a:p>
            <a:r>
              <a:rPr lang="en-US" dirty="0"/>
              <a:t>Installing R Studio in Anaconda </a:t>
            </a:r>
          </a:p>
        </p:txBody>
      </p:sp>
      <p:sp>
        <p:nvSpPr>
          <p:cNvPr id="3" name="Content Placeholder 2">
            <a:extLst>
              <a:ext uri="{FF2B5EF4-FFF2-40B4-BE49-F238E27FC236}">
                <a16:creationId xmlns:a16="http://schemas.microsoft.com/office/drawing/2014/main" id="{D5F6950D-391C-4919-92CA-31F531B58F58}"/>
              </a:ext>
            </a:extLst>
          </p:cNvPr>
          <p:cNvSpPr>
            <a:spLocks noGrp="1"/>
          </p:cNvSpPr>
          <p:nvPr>
            <p:ph idx="1"/>
          </p:nvPr>
        </p:nvSpPr>
        <p:spPr>
          <a:xfrm>
            <a:off x="1097280" y="1845734"/>
            <a:ext cx="6167120" cy="4023360"/>
          </a:xfrm>
        </p:spPr>
        <p:txBody>
          <a:bodyPr/>
          <a:lstStyle/>
          <a:p>
            <a:r>
              <a:rPr lang="en-US" dirty="0"/>
              <a:t>2) Next, you want to click on </a:t>
            </a:r>
            <a:r>
              <a:rPr lang="en-US" dirty="0">
                <a:solidFill>
                  <a:srgbClr val="00B050"/>
                </a:solidFill>
              </a:rPr>
              <a:t>install, </a:t>
            </a:r>
            <a:r>
              <a:rPr lang="en-US" dirty="0">
                <a:solidFill>
                  <a:schemeClr val="tx1"/>
                </a:solidFill>
              </a:rPr>
              <a:t>which should then</a:t>
            </a:r>
            <a:r>
              <a:rPr lang="en-US" dirty="0">
                <a:solidFill>
                  <a:srgbClr val="FF0000"/>
                </a:solidFill>
              </a:rPr>
              <a:t> </a:t>
            </a:r>
            <a:r>
              <a:rPr lang="en-US" dirty="0">
                <a:solidFill>
                  <a:schemeClr val="tx1"/>
                </a:solidFill>
              </a:rPr>
              <a:t>automatically run you through the installation process.</a:t>
            </a:r>
          </a:p>
          <a:p>
            <a:r>
              <a:rPr lang="en-US" dirty="0">
                <a:solidFill>
                  <a:schemeClr val="tx1"/>
                </a:solidFill>
              </a:rPr>
              <a:t>A video showing how to do this can be found </a:t>
            </a:r>
            <a:r>
              <a:rPr lang="en-US" dirty="0">
                <a:solidFill>
                  <a:schemeClr val="tx1"/>
                </a:solidFill>
                <a:hlinkClick r:id="rId2"/>
              </a:rPr>
              <a:t>here</a:t>
            </a:r>
            <a:endParaRPr lang="en-US" dirty="0">
              <a:solidFill>
                <a:schemeClr val="tx1"/>
              </a:solidFill>
            </a:endParaRPr>
          </a:p>
          <a:p>
            <a:endParaRPr lang="en-US" dirty="0">
              <a:solidFill>
                <a:schemeClr val="tx1"/>
              </a:solidFill>
            </a:endParaRPr>
          </a:p>
        </p:txBody>
      </p:sp>
      <p:pic>
        <p:nvPicPr>
          <p:cNvPr id="5" name="Picture 4">
            <a:extLst>
              <a:ext uri="{FF2B5EF4-FFF2-40B4-BE49-F238E27FC236}">
                <a16:creationId xmlns:a16="http://schemas.microsoft.com/office/drawing/2014/main" id="{7E792F6C-5CCE-428F-95CC-DC965D74C5F0}"/>
              </a:ext>
            </a:extLst>
          </p:cNvPr>
          <p:cNvPicPr>
            <a:picLocks noChangeAspect="1"/>
          </p:cNvPicPr>
          <p:nvPr/>
        </p:nvPicPr>
        <p:blipFill rotWithShape="1">
          <a:blip r:embed="rId3" cstate="print"/>
          <a:srcRect l="37128" t="41465" r="45496" b="24394"/>
          <a:stretch/>
        </p:blipFill>
        <p:spPr>
          <a:xfrm>
            <a:off x="7396480" y="1944395"/>
            <a:ext cx="3550918" cy="3924699"/>
          </a:xfrm>
          <a:prstGeom prst="rect">
            <a:avLst/>
          </a:prstGeom>
        </p:spPr>
      </p:pic>
      <p:sp>
        <p:nvSpPr>
          <p:cNvPr id="6" name="Oval 5">
            <a:extLst>
              <a:ext uri="{FF2B5EF4-FFF2-40B4-BE49-F238E27FC236}">
                <a16:creationId xmlns:a16="http://schemas.microsoft.com/office/drawing/2014/main" id="{D8EE46EC-D74F-4EA9-96E6-9A7C01143C81}"/>
              </a:ext>
            </a:extLst>
          </p:cNvPr>
          <p:cNvSpPr/>
          <p:nvPr/>
        </p:nvSpPr>
        <p:spPr>
          <a:xfrm>
            <a:off x="8445499" y="4714241"/>
            <a:ext cx="1452880" cy="701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7935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ACD0F-47B3-40DF-BF69-D659E15C98E1}"/>
              </a:ext>
            </a:extLst>
          </p:cNvPr>
          <p:cNvSpPr>
            <a:spLocks noGrp="1"/>
          </p:cNvSpPr>
          <p:nvPr>
            <p:ph type="title"/>
          </p:nvPr>
        </p:nvSpPr>
        <p:spPr/>
        <p:txBody>
          <a:bodyPr/>
          <a:lstStyle/>
          <a:p>
            <a:r>
              <a:rPr lang="en-US" dirty="0"/>
              <a:t>Using R Studio in Anaconda </a:t>
            </a:r>
          </a:p>
        </p:txBody>
      </p:sp>
      <p:sp>
        <p:nvSpPr>
          <p:cNvPr id="3" name="Content Placeholder 2">
            <a:extLst>
              <a:ext uri="{FF2B5EF4-FFF2-40B4-BE49-F238E27FC236}">
                <a16:creationId xmlns:a16="http://schemas.microsoft.com/office/drawing/2014/main" id="{D5F6950D-391C-4919-92CA-31F531B58F58}"/>
              </a:ext>
            </a:extLst>
          </p:cNvPr>
          <p:cNvSpPr>
            <a:spLocks noGrp="1"/>
          </p:cNvSpPr>
          <p:nvPr>
            <p:ph idx="1"/>
          </p:nvPr>
        </p:nvSpPr>
        <p:spPr>
          <a:xfrm>
            <a:off x="1097280" y="1845734"/>
            <a:ext cx="6167120" cy="4023360"/>
          </a:xfrm>
        </p:spPr>
        <p:txBody>
          <a:bodyPr/>
          <a:lstStyle/>
          <a:p>
            <a:r>
              <a:rPr lang="en-US" dirty="0"/>
              <a:t>3) Next, from the </a:t>
            </a:r>
            <a:r>
              <a:rPr lang="en-US" dirty="0">
                <a:solidFill>
                  <a:srgbClr val="00B050"/>
                </a:solidFill>
              </a:rPr>
              <a:t>Anaconda Navigator </a:t>
            </a:r>
            <a:r>
              <a:rPr lang="en-US" dirty="0"/>
              <a:t>you should now be able to </a:t>
            </a:r>
            <a:r>
              <a:rPr lang="en-US" dirty="0">
                <a:solidFill>
                  <a:srgbClr val="00B0F0"/>
                </a:solidFill>
              </a:rPr>
              <a:t>launch</a:t>
            </a:r>
            <a:r>
              <a:rPr lang="en-US" dirty="0"/>
              <a:t> R Studio. You should spend a bit of time familiarizing yourself with R and R Studio. </a:t>
            </a:r>
            <a:r>
              <a:rPr lang="en-US" dirty="0">
                <a:hlinkClick r:id="rId2"/>
              </a:rPr>
              <a:t>This tutorial </a:t>
            </a:r>
            <a:r>
              <a:rPr lang="en-US" dirty="0"/>
              <a:t>here should help. Below is a screenshot of R Studio from the tutorial </a:t>
            </a:r>
          </a:p>
          <a:p>
            <a:endParaRPr lang="en-US" dirty="0">
              <a:solidFill>
                <a:schemeClr val="tx1"/>
              </a:solidFill>
            </a:endParaRPr>
          </a:p>
          <a:p>
            <a:endParaRPr lang="en-US" dirty="0">
              <a:solidFill>
                <a:schemeClr val="tx1"/>
              </a:solidFill>
            </a:endParaRPr>
          </a:p>
          <a:p>
            <a:endParaRPr lang="en-US" dirty="0">
              <a:solidFill>
                <a:schemeClr val="tx1"/>
              </a:solidFill>
            </a:endParaRPr>
          </a:p>
        </p:txBody>
      </p:sp>
      <p:sp>
        <p:nvSpPr>
          <p:cNvPr id="6" name="Oval 5">
            <a:extLst>
              <a:ext uri="{FF2B5EF4-FFF2-40B4-BE49-F238E27FC236}">
                <a16:creationId xmlns:a16="http://schemas.microsoft.com/office/drawing/2014/main" id="{D8EE46EC-D74F-4EA9-96E6-9A7C01143C81}"/>
              </a:ext>
            </a:extLst>
          </p:cNvPr>
          <p:cNvSpPr/>
          <p:nvPr/>
        </p:nvSpPr>
        <p:spPr>
          <a:xfrm>
            <a:off x="8445499" y="4714241"/>
            <a:ext cx="1452880" cy="701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EFE025B-C64D-417D-A815-F58482359893}"/>
              </a:ext>
            </a:extLst>
          </p:cNvPr>
          <p:cNvPicPr>
            <a:picLocks noChangeAspect="1"/>
          </p:cNvPicPr>
          <p:nvPr/>
        </p:nvPicPr>
        <p:blipFill rotWithShape="1">
          <a:blip r:embed="rId3" cstate="print"/>
          <a:srcRect l="37128" t="41465" r="45496" b="24394"/>
          <a:stretch/>
        </p:blipFill>
        <p:spPr>
          <a:xfrm>
            <a:off x="7396480" y="1944395"/>
            <a:ext cx="3550918" cy="3924699"/>
          </a:xfrm>
          <a:prstGeom prst="rect">
            <a:avLst/>
          </a:prstGeom>
        </p:spPr>
      </p:pic>
      <p:pic>
        <p:nvPicPr>
          <p:cNvPr id="4" name="Picture 3">
            <a:extLst>
              <a:ext uri="{FF2B5EF4-FFF2-40B4-BE49-F238E27FC236}">
                <a16:creationId xmlns:a16="http://schemas.microsoft.com/office/drawing/2014/main" id="{7CE748A6-7216-4F9C-84EF-9FB5FACFBCB3}"/>
              </a:ext>
            </a:extLst>
          </p:cNvPr>
          <p:cNvPicPr>
            <a:picLocks noChangeAspect="1"/>
          </p:cNvPicPr>
          <p:nvPr/>
        </p:nvPicPr>
        <p:blipFill>
          <a:blip r:embed="rId4" cstate="print"/>
          <a:stretch>
            <a:fillRect/>
          </a:stretch>
        </p:blipFill>
        <p:spPr>
          <a:xfrm>
            <a:off x="8365938" y="4714241"/>
            <a:ext cx="1461321" cy="701040"/>
          </a:xfrm>
          <a:prstGeom prst="rect">
            <a:avLst/>
          </a:prstGeom>
        </p:spPr>
      </p:pic>
      <p:sp>
        <p:nvSpPr>
          <p:cNvPr id="9" name="Oval 8">
            <a:extLst>
              <a:ext uri="{FF2B5EF4-FFF2-40B4-BE49-F238E27FC236}">
                <a16:creationId xmlns:a16="http://schemas.microsoft.com/office/drawing/2014/main" id="{BD0179E1-3EB3-49AF-A092-A2644E915146}"/>
              </a:ext>
            </a:extLst>
          </p:cNvPr>
          <p:cNvSpPr/>
          <p:nvPr/>
        </p:nvSpPr>
        <p:spPr>
          <a:xfrm>
            <a:off x="8502238" y="4480561"/>
            <a:ext cx="1188720" cy="1168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63338A31-65CE-4123-8D71-955D3A8365DF}"/>
              </a:ext>
            </a:extLst>
          </p:cNvPr>
          <p:cNvPicPr>
            <a:picLocks noChangeAspect="1"/>
          </p:cNvPicPr>
          <p:nvPr/>
        </p:nvPicPr>
        <p:blipFill>
          <a:blip r:embed="rId5" cstate="print"/>
          <a:stretch>
            <a:fillRect/>
          </a:stretch>
        </p:blipFill>
        <p:spPr>
          <a:xfrm>
            <a:off x="2157968" y="3342695"/>
            <a:ext cx="4045744" cy="2275731"/>
          </a:xfrm>
          <a:prstGeom prst="rect">
            <a:avLst/>
          </a:prstGeom>
        </p:spPr>
      </p:pic>
    </p:spTree>
    <p:extLst>
      <p:ext uri="{BB962C8B-B14F-4D97-AF65-F5344CB8AC3E}">
        <p14:creationId xmlns:p14="http://schemas.microsoft.com/office/powerpoint/2010/main" val="4116605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B9952-E89D-4E57-807A-AD1D715CE408}"/>
              </a:ext>
            </a:extLst>
          </p:cNvPr>
          <p:cNvSpPr>
            <a:spLocks noGrp="1"/>
          </p:cNvSpPr>
          <p:nvPr>
            <p:ph type="title"/>
          </p:nvPr>
        </p:nvSpPr>
        <p:spPr/>
        <p:txBody>
          <a:bodyPr/>
          <a:lstStyle/>
          <a:p>
            <a:r>
              <a:rPr lang="en-US" dirty="0"/>
              <a:t>R/ R Studio without Anaconda </a:t>
            </a:r>
          </a:p>
        </p:txBody>
      </p:sp>
      <p:sp>
        <p:nvSpPr>
          <p:cNvPr id="3" name="Content Placeholder 2">
            <a:extLst>
              <a:ext uri="{FF2B5EF4-FFF2-40B4-BE49-F238E27FC236}">
                <a16:creationId xmlns:a16="http://schemas.microsoft.com/office/drawing/2014/main" id="{CB3429B0-CB29-4242-B860-AC7CF0C93A8D}"/>
              </a:ext>
            </a:extLst>
          </p:cNvPr>
          <p:cNvSpPr>
            <a:spLocks noGrp="1"/>
          </p:cNvSpPr>
          <p:nvPr>
            <p:ph idx="1"/>
          </p:nvPr>
        </p:nvSpPr>
        <p:spPr/>
        <p:txBody>
          <a:bodyPr/>
          <a:lstStyle/>
          <a:p>
            <a:r>
              <a:rPr lang="en-US" dirty="0"/>
              <a:t>If you’re having trouble installing R Studio via Anaconda, stand alone installs of both R and R Studio are fairly straight forward, so this may be your best bet. </a:t>
            </a:r>
          </a:p>
          <a:p>
            <a:r>
              <a:rPr lang="en-US" dirty="0"/>
              <a:t>To do this, first download the latest version of R via one of the provided mirrors online </a:t>
            </a:r>
            <a:r>
              <a:rPr lang="en-US" dirty="0">
                <a:hlinkClick r:id="rId2"/>
              </a:rPr>
              <a:t>here</a:t>
            </a:r>
            <a:r>
              <a:rPr lang="en-US" dirty="0"/>
              <a:t>.</a:t>
            </a:r>
          </a:p>
          <a:p>
            <a:r>
              <a:rPr lang="en-US" dirty="0"/>
              <a:t>Once that has installed, you should proceed to download and install the latest version of R Studio from their website. R Studio is open source for non-commercial use (which means free for us). You can get that </a:t>
            </a:r>
            <a:r>
              <a:rPr lang="en-US" dirty="0">
                <a:hlinkClick r:id="rId3"/>
              </a:rPr>
              <a:t>here.</a:t>
            </a:r>
            <a:endParaRPr lang="en-US" dirty="0"/>
          </a:p>
          <a:p>
            <a:endParaRPr lang="en-US" dirty="0"/>
          </a:p>
          <a:p>
            <a:r>
              <a:rPr lang="en-US" dirty="0"/>
              <a:t>Concerning installation for both, follow the recommended/default options for everything and you should be fine. This should be the same for Mac and PC (If all else fails, reach out and we’ll work through the install together).</a:t>
            </a:r>
          </a:p>
        </p:txBody>
      </p:sp>
    </p:spTree>
    <p:extLst>
      <p:ext uri="{BB962C8B-B14F-4D97-AF65-F5344CB8AC3E}">
        <p14:creationId xmlns:p14="http://schemas.microsoft.com/office/powerpoint/2010/main" val="2594154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ACD0F-47B3-40DF-BF69-D659E15C98E1}"/>
              </a:ext>
            </a:extLst>
          </p:cNvPr>
          <p:cNvSpPr>
            <a:spLocks noGrp="1"/>
          </p:cNvSpPr>
          <p:nvPr>
            <p:ph type="title"/>
          </p:nvPr>
        </p:nvSpPr>
        <p:spPr/>
        <p:txBody>
          <a:bodyPr/>
          <a:lstStyle/>
          <a:p>
            <a:r>
              <a:rPr lang="en-US" dirty="0"/>
              <a:t>Using R Studio in Anaconda </a:t>
            </a:r>
          </a:p>
        </p:txBody>
      </p:sp>
      <p:sp>
        <p:nvSpPr>
          <p:cNvPr id="3" name="Content Placeholder 2">
            <a:extLst>
              <a:ext uri="{FF2B5EF4-FFF2-40B4-BE49-F238E27FC236}">
                <a16:creationId xmlns:a16="http://schemas.microsoft.com/office/drawing/2014/main" id="{D5F6950D-391C-4919-92CA-31F531B58F58}"/>
              </a:ext>
            </a:extLst>
          </p:cNvPr>
          <p:cNvSpPr>
            <a:spLocks noGrp="1"/>
          </p:cNvSpPr>
          <p:nvPr>
            <p:ph idx="1"/>
          </p:nvPr>
        </p:nvSpPr>
        <p:spPr>
          <a:xfrm>
            <a:off x="1097280" y="1845734"/>
            <a:ext cx="10058400" cy="4023360"/>
          </a:xfrm>
        </p:spPr>
        <p:txBody>
          <a:bodyPr/>
          <a:lstStyle/>
          <a:p>
            <a:r>
              <a:rPr lang="en-US" dirty="0"/>
              <a:t>The next slide will be a screenshot of R studio in the middle of running one of the RF tutorials provided in the course materials (</a:t>
            </a:r>
            <a:r>
              <a:rPr lang="en-US" dirty="0">
                <a:hlinkClick r:id="rId2"/>
              </a:rPr>
              <a:t>this one</a:t>
            </a:r>
            <a:r>
              <a:rPr lang="en-US" dirty="0"/>
              <a:t>), in which I’ll explain the various windows and what they do.</a:t>
            </a:r>
          </a:p>
          <a:p>
            <a:endParaRPr lang="en-US" dirty="0">
              <a:solidFill>
                <a:schemeClr val="tx1"/>
              </a:solidFill>
            </a:endParaRPr>
          </a:p>
          <a:p>
            <a:endParaRPr lang="en-US"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980152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ACD0F-47B3-40DF-BF69-D659E15C98E1}"/>
              </a:ext>
            </a:extLst>
          </p:cNvPr>
          <p:cNvSpPr>
            <a:spLocks noGrp="1"/>
          </p:cNvSpPr>
          <p:nvPr>
            <p:ph type="title"/>
          </p:nvPr>
        </p:nvSpPr>
        <p:spPr/>
        <p:txBody>
          <a:bodyPr/>
          <a:lstStyle/>
          <a:p>
            <a:r>
              <a:rPr lang="en-US" dirty="0"/>
              <a:t>Running RF tutorial in R Studio</a:t>
            </a:r>
          </a:p>
        </p:txBody>
      </p:sp>
      <p:sp>
        <p:nvSpPr>
          <p:cNvPr id="3" name="Content Placeholder 2">
            <a:extLst>
              <a:ext uri="{FF2B5EF4-FFF2-40B4-BE49-F238E27FC236}">
                <a16:creationId xmlns:a16="http://schemas.microsoft.com/office/drawing/2014/main" id="{D5F6950D-391C-4919-92CA-31F531B58F58}"/>
              </a:ext>
            </a:extLst>
          </p:cNvPr>
          <p:cNvSpPr>
            <a:spLocks noGrp="1"/>
          </p:cNvSpPr>
          <p:nvPr>
            <p:ph idx="1"/>
          </p:nvPr>
        </p:nvSpPr>
        <p:spPr>
          <a:xfrm>
            <a:off x="1016000" y="1845734"/>
            <a:ext cx="10160000" cy="4023360"/>
          </a:xfrm>
        </p:spPr>
        <p:txBody>
          <a:bodyPr/>
          <a:lstStyle/>
          <a:p>
            <a:pPr marL="0" indent="0">
              <a:buNone/>
            </a:pPr>
            <a:r>
              <a:rPr lang="en-US" dirty="0">
                <a:solidFill>
                  <a:schemeClr val="tx1"/>
                </a:solidFill>
              </a:rPr>
              <a:t> </a:t>
            </a:r>
          </a:p>
          <a:p>
            <a:endParaRPr lang="en-US" dirty="0">
              <a:solidFill>
                <a:schemeClr val="tx1"/>
              </a:solidFill>
            </a:endParaRPr>
          </a:p>
          <a:p>
            <a:endParaRPr lang="en-US" dirty="0">
              <a:solidFill>
                <a:schemeClr val="tx1"/>
              </a:solidFill>
            </a:endParaRPr>
          </a:p>
        </p:txBody>
      </p:sp>
      <p:pic>
        <p:nvPicPr>
          <p:cNvPr id="5" name="Picture 4">
            <a:extLst>
              <a:ext uri="{FF2B5EF4-FFF2-40B4-BE49-F238E27FC236}">
                <a16:creationId xmlns:a16="http://schemas.microsoft.com/office/drawing/2014/main" id="{24F8127D-C772-4744-B584-5ABABE7EE7F5}"/>
              </a:ext>
            </a:extLst>
          </p:cNvPr>
          <p:cNvPicPr>
            <a:picLocks noChangeAspect="1"/>
          </p:cNvPicPr>
          <p:nvPr/>
        </p:nvPicPr>
        <p:blipFill>
          <a:blip r:embed="rId2" cstate="print"/>
          <a:stretch>
            <a:fillRect/>
          </a:stretch>
        </p:blipFill>
        <p:spPr>
          <a:xfrm>
            <a:off x="0" y="0"/>
            <a:ext cx="12192000" cy="6858000"/>
          </a:xfrm>
          <a:prstGeom prst="rect">
            <a:avLst/>
          </a:prstGeom>
        </p:spPr>
      </p:pic>
    </p:spTree>
    <p:extLst>
      <p:ext uri="{BB962C8B-B14F-4D97-AF65-F5344CB8AC3E}">
        <p14:creationId xmlns:p14="http://schemas.microsoft.com/office/powerpoint/2010/main" val="1528275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ACD0F-47B3-40DF-BF69-D659E15C98E1}"/>
              </a:ext>
            </a:extLst>
          </p:cNvPr>
          <p:cNvSpPr>
            <a:spLocks noGrp="1"/>
          </p:cNvSpPr>
          <p:nvPr>
            <p:ph type="title"/>
          </p:nvPr>
        </p:nvSpPr>
        <p:spPr/>
        <p:txBody>
          <a:bodyPr/>
          <a:lstStyle/>
          <a:p>
            <a:r>
              <a:rPr lang="en-US" dirty="0"/>
              <a:t>Running RF tutorial in R Studio</a:t>
            </a:r>
          </a:p>
        </p:txBody>
      </p:sp>
      <p:sp>
        <p:nvSpPr>
          <p:cNvPr id="3" name="Content Placeholder 2">
            <a:extLst>
              <a:ext uri="{FF2B5EF4-FFF2-40B4-BE49-F238E27FC236}">
                <a16:creationId xmlns:a16="http://schemas.microsoft.com/office/drawing/2014/main" id="{D5F6950D-391C-4919-92CA-31F531B58F58}"/>
              </a:ext>
            </a:extLst>
          </p:cNvPr>
          <p:cNvSpPr>
            <a:spLocks noGrp="1"/>
          </p:cNvSpPr>
          <p:nvPr>
            <p:ph idx="1"/>
          </p:nvPr>
        </p:nvSpPr>
        <p:spPr>
          <a:xfrm>
            <a:off x="1016000" y="1845734"/>
            <a:ext cx="10160000" cy="4023360"/>
          </a:xfrm>
        </p:spPr>
        <p:txBody>
          <a:bodyPr/>
          <a:lstStyle/>
          <a:p>
            <a:pPr marL="0" indent="0">
              <a:buNone/>
            </a:pPr>
            <a:r>
              <a:rPr lang="en-US" dirty="0">
                <a:solidFill>
                  <a:schemeClr val="tx1"/>
                </a:solidFill>
              </a:rPr>
              <a:t> </a:t>
            </a:r>
          </a:p>
          <a:p>
            <a:endParaRPr lang="en-US" dirty="0">
              <a:solidFill>
                <a:schemeClr val="tx1"/>
              </a:solidFill>
            </a:endParaRPr>
          </a:p>
          <a:p>
            <a:endParaRPr lang="en-US" dirty="0">
              <a:solidFill>
                <a:schemeClr val="tx1"/>
              </a:solidFill>
            </a:endParaRPr>
          </a:p>
        </p:txBody>
      </p:sp>
      <p:pic>
        <p:nvPicPr>
          <p:cNvPr id="5" name="Picture 4">
            <a:extLst>
              <a:ext uri="{FF2B5EF4-FFF2-40B4-BE49-F238E27FC236}">
                <a16:creationId xmlns:a16="http://schemas.microsoft.com/office/drawing/2014/main" id="{24F8127D-C772-4744-B584-5ABABE7EE7F5}"/>
              </a:ext>
            </a:extLst>
          </p:cNvPr>
          <p:cNvPicPr>
            <a:picLocks noChangeAspect="1"/>
          </p:cNvPicPr>
          <p:nvPr/>
        </p:nvPicPr>
        <p:blipFill>
          <a:blip r:embed="rId2" cstate="print"/>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C2A8B34E-D51C-4873-B9AD-10FDD5364466}"/>
              </a:ext>
            </a:extLst>
          </p:cNvPr>
          <p:cNvSpPr txBox="1"/>
          <p:nvPr/>
        </p:nvSpPr>
        <p:spPr>
          <a:xfrm>
            <a:off x="2580640" y="1503681"/>
            <a:ext cx="3515360" cy="3416320"/>
          </a:xfrm>
          <a:prstGeom prst="rect">
            <a:avLst/>
          </a:prstGeom>
          <a:noFill/>
        </p:spPr>
        <p:txBody>
          <a:bodyPr wrap="square" rtlCol="0">
            <a:spAutoFit/>
          </a:bodyPr>
          <a:lstStyle/>
          <a:p>
            <a:r>
              <a:rPr lang="en-US" dirty="0">
                <a:solidFill>
                  <a:srgbClr val="FF0000"/>
                </a:solidFill>
              </a:rPr>
              <a:t>This box in the upper left hand of the screen represents a script file. (a .R file) Here, you can type out code that is then saved and ran via the console. Unless you’re using the console to code (which is fine too), this is where you’ll spend a lot of your time. As seen, code ran here will output to the console below. To run code, simply highlight what you want ran, and click on “run” as shown above </a:t>
            </a:r>
          </a:p>
        </p:txBody>
      </p:sp>
      <p:sp>
        <p:nvSpPr>
          <p:cNvPr id="6" name="Oval 5">
            <a:extLst>
              <a:ext uri="{FF2B5EF4-FFF2-40B4-BE49-F238E27FC236}">
                <a16:creationId xmlns:a16="http://schemas.microsoft.com/office/drawing/2014/main" id="{B730DDB6-AA33-49D2-8ED4-2C022FDA5B96}"/>
              </a:ext>
            </a:extLst>
          </p:cNvPr>
          <p:cNvSpPr/>
          <p:nvPr/>
        </p:nvSpPr>
        <p:spPr>
          <a:xfrm>
            <a:off x="5100320" y="523653"/>
            <a:ext cx="426720" cy="46525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E5633F3-56D6-4BFF-9ECA-96EF05DD358E}"/>
              </a:ext>
            </a:extLst>
          </p:cNvPr>
          <p:cNvSpPr/>
          <p:nvPr/>
        </p:nvSpPr>
        <p:spPr>
          <a:xfrm>
            <a:off x="0" y="523653"/>
            <a:ext cx="6370320" cy="44750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538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ACD0F-47B3-40DF-BF69-D659E15C98E1}"/>
              </a:ext>
            </a:extLst>
          </p:cNvPr>
          <p:cNvSpPr>
            <a:spLocks noGrp="1"/>
          </p:cNvSpPr>
          <p:nvPr>
            <p:ph type="title"/>
          </p:nvPr>
        </p:nvSpPr>
        <p:spPr/>
        <p:txBody>
          <a:bodyPr/>
          <a:lstStyle/>
          <a:p>
            <a:r>
              <a:rPr lang="en-US" dirty="0"/>
              <a:t>Running RF tutorial in R Studio</a:t>
            </a:r>
          </a:p>
        </p:txBody>
      </p:sp>
      <p:sp>
        <p:nvSpPr>
          <p:cNvPr id="3" name="Content Placeholder 2">
            <a:extLst>
              <a:ext uri="{FF2B5EF4-FFF2-40B4-BE49-F238E27FC236}">
                <a16:creationId xmlns:a16="http://schemas.microsoft.com/office/drawing/2014/main" id="{D5F6950D-391C-4919-92CA-31F531B58F58}"/>
              </a:ext>
            </a:extLst>
          </p:cNvPr>
          <p:cNvSpPr>
            <a:spLocks noGrp="1"/>
          </p:cNvSpPr>
          <p:nvPr>
            <p:ph idx="1"/>
          </p:nvPr>
        </p:nvSpPr>
        <p:spPr>
          <a:xfrm>
            <a:off x="1016000" y="1845734"/>
            <a:ext cx="10160000" cy="4023360"/>
          </a:xfrm>
        </p:spPr>
        <p:txBody>
          <a:bodyPr/>
          <a:lstStyle/>
          <a:p>
            <a:pPr marL="0" indent="0">
              <a:buNone/>
            </a:pPr>
            <a:r>
              <a:rPr lang="en-US" dirty="0">
                <a:solidFill>
                  <a:schemeClr val="tx1"/>
                </a:solidFill>
              </a:rPr>
              <a:t> </a:t>
            </a:r>
          </a:p>
          <a:p>
            <a:endParaRPr lang="en-US" dirty="0">
              <a:solidFill>
                <a:schemeClr val="tx1"/>
              </a:solidFill>
            </a:endParaRPr>
          </a:p>
          <a:p>
            <a:endParaRPr lang="en-US" dirty="0">
              <a:solidFill>
                <a:schemeClr val="tx1"/>
              </a:solidFill>
            </a:endParaRPr>
          </a:p>
        </p:txBody>
      </p:sp>
      <p:pic>
        <p:nvPicPr>
          <p:cNvPr id="5" name="Picture 4">
            <a:extLst>
              <a:ext uri="{FF2B5EF4-FFF2-40B4-BE49-F238E27FC236}">
                <a16:creationId xmlns:a16="http://schemas.microsoft.com/office/drawing/2014/main" id="{24F8127D-C772-4744-B584-5ABABE7EE7F5}"/>
              </a:ext>
            </a:extLst>
          </p:cNvPr>
          <p:cNvPicPr>
            <a:picLocks noChangeAspect="1"/>
          </p:cNvPicPr>
          <p:nvPr/>
        </p:nvPicPr>
        <p:blipFill>
          <a:blip r:embed="rId2" cstate="print"/>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C2A8B34E-D51C-4873-B9AD-10FDD5364466}"/>
              </a:ext>
            </a:extLst>
          </p:cNvPr>
          <p:cNvSpPr txBox="1"/>
          <p:nvPr/>
        </p:nvSpPr>
        <p:spPr>
          <a:xfrm>
            <a:off x="2783840" y="1737360"/>
            <a:ext cx="3515360" cy="2862322"/>
          </a:xfrm>
          <a:prstGeom prst="rect">
            <a:avLst/>
          </a:prstGeom>
          <a:noFill/>
        </p:spPr>
        <p:txBody>
          <a:bodyPr wrap="square" rtlCol="0">
            <a:spAutoFit/>
          </a:bodyPr>
          <a:lstStyle/>
          <a:p>
            <a:r>
              <a:rPr lang="en-US" dirty="0">
                <a:solidFill>
                  <a:srgbClr val="FF0000"/>
                </a:solidFill>
              </a:rPr>
              <a:t>Next, the box below is where you can access your console and terminal. This is where you would run chunks or lines of code as is without running it from a script. This is also where the output of your code will be displayed.  As show, what you see there is the result of line 8, </a:t>
            </a:r>
            <a:r>
              <a:rPr lang="en-US" dirty="0"/>
              <a:t>glimpse(</a:t>
            </a:r>
            <a:r>
              <a:rPr lang="en-US" dirty="0" err="1"/>
              <a:t>data_test</a:t>
            </a:r>
            <a:r>
              <a:rPr lang="en-US" dirty="0"/>
              <a:t>) </a:t>
            </a:r>
            <a:r>
              <a:rPr lang="en-US" dirty="0">
                <a:solidFill>
                  <a:srgbClr val="FF0000"/>
                </a:solidFill>
              </a:rPr>
              <a:t>in the script above.</a:t>
            </a:r>
          </a:p>
        </p:txBody>
      </p:sp>
      <p:sp>
        <p:nvSpPr>
          <p:cNvPr id="7" name="Rectangle 6">
            <a:extLst>
              <a:ext uri="{FF2B5EF4-FFF2-40B4-BE49-F238E27FC236}">
                <a16:creationId xmlns:a16="http://schemas.microsoft.com/office/drawing/2014/main" id="{9C9E7C9E-2607-43D6-8BD8-C176BC5360E6}"/>
              </a:ext>
            </a:extLst>
          </p:cNvPr>
          <p:cNvSpPr/>
          <p:nvPr/>
        </p:nvSpPr>
        <p:spPr>
          <a:xfrm>
            <a:off x="0" y="5039360"/>
            <a:ext cx="6400800" cy="18186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2750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ACD0F-47B3-40DF-BF69-D659E15C98E1}"/>
              </a:ext>
            </a:extLst>
          </p:cNvPr>
          <p:cNvSpPr>
            <a:spLocks noGrp="1"/>
          </p:cNvSpPr>
          <p:nvPr>
            <p:ph type="title"/>
          </p:nvPr>
        </p:nvSpPr>
        <p:spPr/>
        <p:txBody>
          <a:bodyPr/>
          <a:lstStyle/>
          <a:p>
            <a:r>
              <a:rPr lang="en-US" dirty="0"/>
              <a:t>Running RF tutorial in R Studio</a:t>
            </a:r>
          </a:p>
        </p:txBody>
      </p:sp>
      <p:sp>
        <p:nvSpPr>
          <p:cNvPr id="3" name="Content Placeholder 2">
            <a:extLst>
              <a:ext uri="{FF2B5EF4-FFF2-40B4-BE49-F238E27FC236}">
                <a16:creationId xmlns:a16="http://schemas.microsoft.com/office/drawing/2014/main" id="{D5F6950D-391C-4919-92CA-31F531B58F58}"/>
              </a:ext>
            </a:extLst>
          </p:cNvPr>
          <p:cNvSpPr>
            <a:spLocks noGrp="1"/>
          </p:cNvSpPr>
          <p:nvPr>
            <p:ph idx="1"/>
          </p:nvPr>
        </p:nvSpPr>
        <p:spPr>
          <a:xfrm>
            <a:off x="1016000" y="1845734"/>
            <a:ext cx="10160000" cy="4023360"/>
          </a:xfrm>
        </p:spPr>
        <p:txBody>
          <a:bodyPr/>
          <a:lstStyle/>
          <a:p>
            <a:pPr marL="0" indent="0">
              <a:buNone/>
            </a:pPr>
            <a:r>
              <a:rPr lang="en-US" dirty="0">
                <a:solidFill>
                  <a:schemeClr val="tx1"/>
                </a:solidFill>
              </a:rPr>
              <a:t> </a:t>
            </a:r>
          </a:p>
          <a:p>
            <a:endParaRPr lang="en-US" dirty="0">
              <a:solidFill>
                <a:schemeClr val="tx1"/>
              </a:solidFill>
            </a:endParaRPr>
          </a:p>
          <a:p>
            <a:endParaRPr lang="en-US" dirty="0">
              <a:solidFill>
                <a:schemeClr val="tx1"/>
              </a:solidFill>
            </a:endParaRPr>
          </a:p>
        </p:txBody>
      </p:sp>
      <p:pic>
        <p:nvPicPr>
          <p:cNvPr id="5" name="Picture 4">
            <a:extLst>
              <a:ext uri="{FF2B5EF4-FFF2-40B4-BE49-F238E27FC236}">
                <a16:creationId xmlns:a16="http://schemas.microsoft.com/office/drawing/2014/main" id="{24F8127D-C772-4744-B584-5ABABE7EE7F5}"/>
              </a:ext>
            </a:extLst>
          </p:cNvPr>
          <p:cNvPicPr>
            <a:picLocks noChangeAspect="1"/>
          </p:cNvPicPr>
          <p:nvPr/>
        </p:nvPicPr>
        <p:blipFill>
          <a:blip r:embed="rId2" cstate="print"/>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C2A8B34E-D51C-4873-B9AD-10FDD5364466}"/>
              </a:ext>
            </a:extLst>
          </p:cNvPr>
          <p:cNvSpPr txBox="1"/>
          <p:nvPr/>
        </p:nvSpPr>
        <p:spPr>
          <a:xfrm>
            <a:off x="2783840" y="1737360"/>
            <a:ext cx="3515360" cy="2308324"/>
          </a:xfrm>
          <a:prstGeom prst="rect">
            <a:avLst/>
          </a:prstGeom>
          <a:noFill/>
        </p:spPr>
        <p:txBody>
          <a:bodyPr wrap="square" rtlCol="0">
            <a:spAutoFit/>
          </a:bodyPr>
          <a:lstStyle/>
          <a:p>
            <a:r>
              <a:rPr lang="en-US" dirty="0">
                <a:solidFill>
                  <a:srgbClr val="FF0000"/>
                </a:solidFill>
              </a:rPr>
              <a:t>Next, this box to the right shows you what data and variables are currently loaded by R. As seen, </a:t>
            </a:r>
            <a:r>
              <a:rPr lang="en-US" dirty="0" err="1"/>
              <a:t>data_test</a:t>
            </a:r>
            <a:r>
              <a:rPr lang="en-US" dirty="0"/>
              <a:t>, </a:t>
            </a:r>
            <a:r>
              <a:rPr lang="en-US" dirty="0" err="1"/>
              <a:t>data_train</a:t>
            </a:r>
            <a:r>
              <a:rPr lang="en-US" dirty="0"/>
              <a:t>, </a:t>
            </a:r>
            <a:r>
              <a:rPr lang="en-US" dirty="0" err="1"/>
              <a:t>rf_default</a:t>
            </a:r>
            <a:r>
              <a:rPr lang="en-US" dirty="0"/>
              <a:t>, and </a:t>
            </a:r>
            <a:r>
              <a:rPr lang="en-US" dirty="0" err="1"/>
              <a:t>trControl</a:t>
            </a:r>
            <a:r>
              <a:rPr lang="en-US" dirty="0"/>
              <a:t>, </a:t>
            </a:r>
            <a:r>
              <a:rPr lang="en-US" dirty="0">
                <a:solidFill>
                  <a:srgbClr val="FF0000"/>
                </a:solidFill>
              </a:rPr>
              <a:t>can also be seen at lines 5, 7, 9, and 17. This is because the code has been run, so the items are loaded into memory.</a:t>
            </a:r>
          </a:p>
        </p:txBody>
      </p:sp>
      <p:sp>
        <p:nvSpPr>
          <p:cNvPr id="7" name="Rectangle 6">
            <a:extLst>
              <a:ext uri="{FF2B5EF4-FFF2-40B4-BE49-F238E27FC236}">
                <a16:creationId xmlns:a16="http://schemas.microsoft.com/office/drawing/2014/main" id="{9C9E7C9E-2607-43D6-8BD8-C176BC5360E6}"/>
              </a:ext>
            </a:extLst>
          </p:cNvPr>
          <p:cNvSpPr/>
          <p:nvPr/>
        </p:nvSpPr>
        <p:spPr>
          <a:xfrm>
            <a:off x="6441440" y="538480"/>
            <a:ext cx="5750560" cy="23469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1202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ACD0F-47B3-40DF-BF69-D659E15C98E1}"/>
              </a:ext>
            </a:extLst>
          </p:cNvPr>
          <p:cNvSpPr>
            <a:spLocks noGrp="1"/>
          </p:cNvSpPr>
          <p:nvPr>
            <p:ph type="title"/>
          </p:nvPr>
        </p:nvSpPr>
        <p:spPr/>
        <p:txBody>
          <a:bodyPr/>
          <a:lstStyle/>
          <a:p>
            <a:r>
              <a:rPr lang="en-US" dirty="0"/>
              <a:t>Running RF tutorial in R Studio</a:t>
            </a:r>
          </a:p>
        </p:txBody>
      </p:sp>
      <p:sp>
        <p:nvSpPr>
          <p:cNvPr id="3" name="Content Placeholder 2">
            <a:extLst>
              <a:ext uri="{FF2B5EF4-FFF2-40B4-BE49-F238E27FC236}">
                <a16:creationId xmlns:a16="http://schemas.microsoft.com/office/drawing/2014/main" id="{D5F6950D-391C-4919-92CA-31F531B58F58}"/>
              </a:ext>
            </a:extLst>
          </p:cNvPr>
          <p:cNvSpPr>
            <a:spLocks noGrp="1"/>
          </p:cNvSpPr>
          <p:nvPr>
            <p:ph idx="1"/>
          </p:nvPr>
        </p:nvSpPr>
        <p:spPr>
          <a:xfrm>
            <a:off x="1016000" y="1845734"/>
            <a:ext cx="10160000" cy="4023360"/>
          </a:xfrm>
        </p:spPr>
        <p:txBody>
          <a:bodyPr/>
          <a:lstStyle/>
          <a:p>
            <a:pPr marL="0" indent="0">
              <a:buNone/>
            </a:pPr>
            <a:r>
              <a:rPr lang="en-US" dirty="0">
                <a:solidFill>
                  <a:schemeClr val="tx1"/>
                </a:solidFill>
              </a:rPr>
              <a:t> </a:t>
            </a:r>
          </a:p>
          <a:p>
            <a:endParaRPr lang="en-US" dirty="0">
              <a:solidFill>
                <a:schemeClr val="tx1"/>
              </a:solidFill>
            </a:endParaRPr>
          </a:p>
          <a:p>
            <a:endParaRPr lang="en-US" dirty="0">
              <a:solidFill>
                <a:schemeClr val="tx1"/>
              </a:solidFill>
            </a:endParaRPr>
          </a:p>
        </p:txBody>
      </p:sp>
      <p:pic>
        <p:nvPicPr>
          <p:cNvPr id="5" name="Picture 4">
            <a:extLst>
              <a:ext uri="{FF2B5EF4-FFF2-40B4-BE49-F238E27FC236}">
                <a16:creationId xmlns:a16="http://schemas.microsoft.com/office/drawing/2014/main" id="{24F8127D-C772-4744-B584-5ABABE7EE7F5}"/>
              </a:ext>
            </a:extLst>
          </p:cNvPr>
          <p:cNvPicPr>
            <a:picLocks noChangeAspect="1"/>
          </p:cNvPicPr>
          <p:nvPr/>
        </p:nvPicPr>
        <p:blipFill>
          <a:blip r:embed="rId2" cstate="print"/>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C2A8B34E-D51C-4873-B9AD-10FDD5364466}"/>
              </a:ext>
            </a:extLst>
          </p:cNvPr>
          <p:cNvSpPr txBox="1"/>
          <p:nvPr/>
        </p:nvSpPr>
        <p:spPr>
          <a:xfrm>
            <a:off x="2783840" y="1737360"/>
            <a:ext cx="3515360" cy="2308324"/>
          </a:xfrm>
          <a:prstGeom prst="rect">
            <a:avLst/>
          </a:prstGeom>
          <a:noFill/>
        </p:spPr>
        <p:txBody>
          <a:bodyPr wrap="square" rtlCol="0">
            <a:spAutoFit/>
          </a:bodyPr>
          <a:lstStyle/>
          <a:p>
            <a:r>
              <a:rPr lang="en-US" dirty="0">
                <a:solidFill>
                  <a:srgbClr val="FF0000"/>
                </a:solidFill>
              </a:rPr>
              <a:t>Lastly, the box in the bottom right hand corner is where you can access your working folder, (“Home &gt;AI R” in my case), sort through your library, install libraries (as covered in the </a:t>
            </a:r>
            <a:r>
              <a:rPr lang="en-US" dirty="0" err="1">
                <a:solidFill>
                  <a:srgbClr val="FF0000"/>
                </a:solidFill>
              </a:rPr>
              <a:t>youtube</a:t>
            </a:r>
            <a:r>
              <a:rPr lang="en-US" dirty="0">
                <a:solidFill>
                  <a:srgbClr val="FF0000"/>
                </a:solidFill>
              </a:rPr>
              <a:t> tutorial). Any plots or graphs from your code will also show up here. </a:t>
            </a:r>
          </a:p>
        </p:txBody>
      </p:sp>
      <p:sp>
        <p:nvSpPr>
          <p:cNvPr id="7" name="Rectangle 6">
            <a:extLst>
              <a:ext uri="{FF2B5EF4-FFF2-40B4-BE49-F238E27FC236}">
                <a16:creationId xmlns:a16="http://schemas.microsoft.com/office/drawing/2014/main" id="{9C9E7C9E-2607-43D6-8BD8-C176BC5360E6}"/>
              </a:ext>
            </a:extLst>
          </p:cNvPr>
          <p:cNvSpPr/>
          <p:nvPr/>
        </p:nvSpPr>
        <p:spPr>
          <a:xfrm>
            <a:off x="6441440" y="2891522"/>
            <a:ext cx="5750560" cy="39664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8326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30F7D-C32E-4D7B-BAA3-BA40943ED129}"/>
              </a:ext>
            </a:extLst>
          </p:cNvPr>
          <p:cNvSpPr>
            <a:spLocks noGrp="1"/>
          </p:cNvSpPr>
          <p:nvPr>
            <p:ph type="title"/>
          </p:nvPr>
        </p:nvSpPr>
        <p:spPr/>
        <p:txBody>
          <a:bodyPr/>
          <a:lstStyle/>
          <a:p>
            <a:r>
              <a:rPr lang="en-US" dirty="0"/>
              <a:t>RF tutorial using R Studio </a:t>
            </a:r>
          </a:p>
        </p:txBody>
      </p:sp>
      <p:sp>
        <p:nvSpPr>
          <p:cNvPr id="3" name="Content Placeholder 2">
            <a:extLst>
              <a:ext uri="{FF2B5EF4-FFF2-40B4-BE49-F238E27FC236}">
                <a16:creationId xmlns:a16="http://schemas.microsoft.com/office/drawing/2014/main" id="{C62C73F3-97BA-4350-A9A3-E9BCEF3A22FC}"/>
              </a:ext>
            </a:extLst>
          </p:cNvPr>
          <p:cNvSpPr>
            <a:spLocks noGrp="1"/>
          </p:cNvSpPr>
          <p:nvPr>
            <p:ph idx="1"/>
          </p:nvPr>
        </p:nvSpPr>
        <p:spPr/>
        <p:txBody>
          <a:bodyPr/>
          <a:lstStyle/>
          <a:p>
            <a:r>
              <a:rPr lang="en-US" dirty="0"/>
              <a:t>Next, we will walk through running the Random Forest in R as needed by HW#4. I’m using the e1 data set, and used </a:t>
            </a:r>
            <a:r>
              <a:rPr lang="en-US" dirty="0">
                <a:hlinkClick r:id="rId2"/>
              </a:rPr>
              <a:t>this tutorial </a:t>
            </a:r>
            <a:r>
              <a:rPr lang="en-US" dirty="0"/>
              <a:t>as a rough outline (feel free to try running the tutorial on your own first. </a:t>
            </a:r>
          </a:p>
          <a:p>
            <a:r>
              <a:rPr lang="en-US" dirty="0"/>
              <a:t>The next slide will be  picture of the code I used for HW4. Read it over and try to follow the logic of what's going on, then I’ll explain each chunk in further detail. Note, if you’re unfamiliar with programming, green text following “#” is only for comments in the code. It is not read by R, and is not needed to run. Its recommended that your document your code for readability sake of yourself and others. </a:t>
            </a:r>
          </a:p>
        </p:txBody>
      </p:sp>
    </p:spTree>
    <p:extLst>
      <p:ext uri="{BB962C8B-B14F-4D97-AF65-F5344CB8AC3E}">
        <p14:creationId xmlns:p14="http://schemas.microsoft.com/office/powerpoint/2010/main" val="2137194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19F7E3-9CF9-4244-8E9F-D29844B36D36}"/>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D3F4B989-1A09-4C1C-A8CA-FA579F493CFE}"/>
              </a:ext>
            </a:extLst>
          </p:cNvPr>
          <p:cNvPicPr>
            <a:picLocks noChangeAspect="1"/>
          </p:cNvPicPr>
          <p:nvPr/>
        </p:nvPicPr>
        <p:blipFill rotWithShape="1">
          <a:blip r:embed="rId2" cstate="print"/>
          <a:srcRect l="1575" t="10526" r="43646" b="33664"/>
          <a:stretch/>
        </p:blipFill>
        <p:spPr>
          <a:xfrm>
            <a:off x="0" y="0"/>
            <a:ext cx="12192000" cy="6855941"/>
          </a:xfrm>
          <a:prstGeom prst="rect">
            <a:avLst/>
          </a:prstGeom>
        </p:spPr>
      </p:pic>
    </p:spTree>
    <p:extLst>
      <p:ext uri="{BB962C8B-B14F-4D97-AF65-F5344CB8AC3E}">
        <p14:creationId xmlns:p14="http://schemas.microsoft.com/office/powerpoint/2010/main" val="154381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29C3-7BE9-48ED-97B7-417CD036D079}"/>
              </a:ext>
            </a:extLst>
          </p:cNvPr>
          <p:cNvSpPr>
            <a:spLocks noGrp="1"/>
          </p:cNvSpPr>
          <p:nvPr>
            <p:ph type="title"/>
          </p:nvPr>
        </p:nvSpPr>
        <p:spPr/>
        <p:txBody>
          <a:bodyPr/>
          <a:lstStyle/>
          <a:p>
            <a:r>
              <a:rPr lang="en-US" dirty="0"/>
              <a:t>RF tutorial using R Studio </a:t>
            </a:r>
          </a:p>
        </p:txBody>
      </p:sp>
      <p:sp>
        <p:nvSpPr>
          <p:cNvPr id="3" name="Content Placeholder 2">
            <a:extLst>
              <a:ext uri="{FF2B5EF4-FFF2-40B4-BE49-F238E27FC236}">
                <a16:creationId xmlns:a16="http://schemas.microsoft.com/office/drawing/2014/main" id="{8FFCCFAB-DEE3-41E3-B3C0-FEC81742FE05}"/>
              </a:ext>
            </a:extLst>
          </p:cNvPr>
          <p:cNvSpPr>
            <a:spLocks noGrp="1"/>
          </p:cNvSpPr>
          <p:nvPr>
            <p:ph idx="1"/>
          </p:nvPr>
        </p:nvSpPr>
        <p:spPr/>
        <p:txBody>
          <a:bodyPr>
            <a:normAutofit fontScale="92500" lnSpcReduction="10000"/>
          </a:bodyPr>
          <a:lstStyle/>
          <a:p>
            <a:r>
              <a:rPr lang="en-US" dirty="0"/>
              <a:t>First things first, you want to make sure you have the correct libraries installed. If not, your computer will not understand the code it is trying to run and will throw error messages. The libraries used in this tutorial are </a:t>
            </a:r>
          </a:p>
          <a:p>
            <a:pPr>
              <a:buFont typeface="Arial" panose="020B0604020202020204" pitchFamily="34" charset="0"/>
              <a:buChar char="•"/>
            </a:pPr>
            <a:r>
              <a:rPr lang="en-US" dirty="0" err="1"/>
              <a:t>randomForest</a:t>
            </a:r>
            <a:endParaRPr lang="en-US" dirty="0"/>
          </a:p>
          <a:p>
            <a:pPr>
              <a:buFont typeface="Arial" panose="020B0604020202020204" pitchFamily="34" charset="0"/>
              <a:buChar char="•"/>
            </a:pPr>
            <a:r>
              <a:rPr lang="en-US" dirty="0"/>
              <a:t>caret</a:t>
            </a:r>
          </a:p>
          <a:p>
            <a:pPr marL="0" indent="0">
              <a:buNone/>
            </a:pPr>
            <a:endParaRPr lang="en-US" dirty="0"/>
          </a:p>
          <a:p>
            <a:pPr marL="0" indent="0">
              <a:buNone/>
            </a:pPr>
            <a:r>
              <a:rPr lang="en-US" dirty="0"/>
              <a:t>“</a:t>
            </a:r>
            <a:r>
              <a:rPr lang="en-US" dirty="0" err="1"/>
              <a:t>randomForest</a:t>
            </a:r>
            <a:r>
              <a:rPr lang="en-US" dirty="0"/>
              <a:t>” allows R to use functions that are specifically designed to create and run RF models. There are plenty of other packages you can use, but this one is simple and effective. “caret” on the other hand is a data processing powerhouse that can be used for a number of features. Were only using 1 in this example however. I suggest googling these packages to skim through their documentation </a:t>
            </a:r>
          </a:p>
          <a:p>
            <a:pPr>
              <a:buFont typeface="Arial" panose="020B0604020202020204" pitchFamily="34" charset="0"/>
              <a:buChar char="•"/>
            </a:pPr>
            <a:r>
              <a:rPr lang="en-US" dirty="0">
                <a:solidFill>
                  <a:srgbClr val="FF0000"/>
                </a:solidFill>
              </a:rPr>
              <a:t>Refer to the video on using R Studio if you’re having trouble seeing what libraries are installed, or how to install them in general. </a:t>
            </a:r>
          </a:p>
          <a:p>
            <a:pPr>
              <a:buFont typeface="Arial" panose="020B0604020202020204" pitchFamily="34" charset="0"/>
              <a:buChar char="•"/>
            </a:pPr>
            <a:endParaRPr lang="en-US" dirty="0"/>
          </a:p>
        </p:txBody>
      </p:sp>
      <p:pic>
        <p:nvPicPr>
          <p:cNvPr id="6" name="Content Placeholder 5">
            <a:extLst>
              <a:ext uri="{FF2B5EF4-FFF2-40B4-BE49-F238E27FC236}">
                <a16:creationId xmlns:a16="http://schemas.microsoft.com/office/drawing/2014/main" id="{58B70AA3-9934-4B43-9239-5BEA0A2CD5C0}"/>
              </a:ext>
            </a:extLst>
          </p:cNvPr>
          <p:cNvPicPr>
            <a:picLocks noChangeAspect="1"/>
          </p:cNvPicPr>
          <p:nvPr/>
        </p:nvPicPr>
        <p:blipFill rotWithShape="1">
          <a:blip r:embed="rId2" cstate="print"/>
          <a:srcRect l="1310" t="12164" r="71612" b="83853"/>
          <a:stretch/>
        </p:blipFill>
        <p:spPr>
          <a:xfrm>
            <a:off x="3433863" y="2858394"/>
            <a:ext cx="6895768" cy="570606"/>
          </a:xfrm>
          <a:prstGeom prst="rect">
            <a:avLst/>
          </a:prstGeom>
        </p:spPr>
      </p:pic>
    </p:spTree>
    <p:extLst>
      <p:ext uri="{BB962C8B-B14F-4D97-AF65-F5344CB8AC3E}">
        <p14:creationId xmlns:p14="http://schemas.microsoft.com/office/powerpoint/2010/main" val="1346426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19F66-69C9-4D00-941D-063EC59EA255}"/>
              </a:ext>
            </a:extLst>
          </p:cNvPr>
          <p:cNvSpPr>
            <a:spLocks noGrp="1"/>
          </p:cNvSpPr>
          <p:nvPr>
            <p:ph type="title"/>
          </p:nvPr>
        </p:nvSpPr>
        <p:spPr/>
        <p:txBody>
          <a:bodyPr/>
          <a:lstStyle/>
          <a:p>
            <a:r>
              <a:rPr lang="en-US" dirty="0"/>
              <a:t>RF tutorial using R Studio </a:t>
            </a:r>
          </a:p>
        </p:txBody>
      </p:sp>
      <p:sp>
        <p:nvSpPr>
          <p:cNvPr id="3" name="Content Placeholder 2">
            <a:extLst>
              <a:ext uri="{FF2B5EF4-FFF2-40B4-BE49-F238E27FC236}">
                <a16:creationId xmlns:a16="http://schemas.microsoft.com/office/drawing/2014/main" id="{AD422A92-7FBE-429E-A097-8C7F44FCD7F6}"/>
              </a:ext>
            </a:extLst>
          </p:cNvPr>
          <p:cNvSpPr>
            <a:spLocks noGrp="1"/>
          </p:cNvSpPr>
          <p:nvPr>
            <p:ph idx="1"/>
          </p:nvPr>
        </p:nvSpPr>
        <p:spPr/>
        <p:txBody>
          <a:bodyPr/>
          <a:lstStyle/>
          <a:p>
            <a:r>
              <a:rPr lang="en-US" dirty="0"/>
              <a:t>Second, were going to load some data. This can go either in a script file, or be ran via the console. If successful, you should see dataset e1 pop up in your global environment (the upper right hand window). </a:t>
            </a:r>
          </a:p>
        </p:txBody>
      </p:sp>
      <p:pic>
        <p:nvPicPr>
          <p:cNvPr id="5" name="Picture 4">
            <a:extLst>
              <a:ext uri="{FF2B5EF4-FFF2-40B4-BE49-F238E27FC236}">
                <a16:creationId xmlns:a16="http://schemas.microsoft.com/office/drawing/2014/main" id="{A4D4FB01-3FAC-49FB-B018-469B987999AB}"/>
              </a:ext>
            </a:extLst>
          </p:cNvPr>
          <p:cNvPicPr>
            <a:picLocks noChangeAspect="1"/>
          </p:cNvPicPr>
          <p:nvPr/>
        </p:nvPicPr>
        <p:blipFill rotWithShape="1">
          <a:blip r:embed="rId2" cstate="print"/>
          <a:srcRect l="2139" t="7060" r="41206" b="85234"/>
          <a:stretch/>
        </p:blipFill>
        <p:spPr>
          <a:xfrm>
            <a:off x="1233071" y="2814320"/>
            <a:ext cx="10803060" cy="827300"/>
          </a:xfrm>
          <a:prstGeom prst="rect">
            <a:avLst/>
          </a:prstGeom>
        </p:spPr>
      </p:pic>
      <p:sp>
        <p:nvSpPr>
          <p:cNvPr id="7" name="TextBox 6">
            <a:extLst>
              <a:ext uri="{FF2B5EF4-FFF2-40B4-BE49-F238E27FC236}">
                <a16:creationId xmlns:a16="http://schemas.microsoft.com/office/drawing/2014/main" id="{DC412EE8-9D80-4EDE-9F7E-FFB116235729}"/>
              </a:ext>
            </a:extLst>
          </p:cNvPr>
          <p:cNvSpPr txBox="1"/>
          <p:nvPr/>
        </p:nvSpPr>
        <p:spPr>
          <a:xfrm>
            <a:off x="1109584" y="3965856"/>
            <a:ext cx="9972832" cy="2308324"/>
          </a:xfrm>
          <a:prstGeom prst="rect">
            <a:avLst/>
          </a:prstGeom>
          <a:noFill/>
        </p:spPr>
        <p:txBody>
          <a:bodyPr wrap="square" rtlCol="0">
            <a:spAutoFit/>
          </a:bodyPr>
          <a:lstStyle/>
          <a:p>
            <a:r>
              <a:rPr lang="en-US" dirty="0"/>
              <a:t>Here, you will read the e1 data (which can be downloaded via </a:t>
            </a:r>
            <a:r>
              <a:rPr lang="en-US" dirty="0" err="1"/>
              <a:t>ilearn</a:t>
            </a:r>
            <a:r>
              <a:rPr lang="en-US" dirty="0"/>
              <a:t>) into a dataset named e1data. This can be named anything, but I suggest you use something that pertains to the dataset you’re using. Note: because I have e1 positive.csv in my working directory, I can call it by name. Otherwise, you’ll need to specify to the program where it is on your computer. </a:t>
            </a:r>
          </a:p>
          <a:p>
            <a:r>
              <a:rPr lang="en-US" dirty="0"/>
              <a:t>The next line, e1data$Label &lt;- </a:t>
            </a:r>
            <a:r>
              <a:rPr lang="en-US" dirty="0" err="1"/>
              <a:t>as.factor</a:t>
            </a:r>
            <a:r>
              <a:rPr lang="en-US" dirty="0"/>
              <a:t>(e1data$Label), is changing the data type of the last column in our set to a discreet, rather than continuous value. While this doesn’t change our “Label” values (1 or 0), it does specify to the computer than it can only be a 1 or 0, so classification can be ran. You’ll only be able to run a regression here otherwise. </a:t>
            </a:r>
          </a:p>
        </p:txBody>
      </p:sp>
    </p:spTree>
    <p:extLst>
      <p:ext uri="{BB962C8B-B14F-4D97-AF65-F5344CB8AC3E}">
        <p14:creationId xmlns:p14="http://schemas.microsoft.com/office/powerpoint/2010/main" val="904299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4C6D6-342F-4696-A3E3-C665276AA228}"/>
              </a:ext>
            </a:extLst>
          </p:cNvPr>
          <p:cNvSpPr>
            <a:spLocks noGrp="1"/>
          </p:cNvSpPr>
          <p:nvPr>
            <p:ph type="title"/>
          </p:nvPr>
        </p:nvSpPr>
        <p:spPr/>
        <p:txBody>
          <a:bodyPr/>
          <a:lstStyle/>
          <a:p>
            <a:r>
              <a:rPr lang="en-US" dirty="0"/>
              <a:t>RF tutorial using R Studio </a:t>
            </a:r>
          </a:p>
        </p:txBody>
      </p:sp>
      <p:sp>
        <p:nvSpPr>
          <p:cNvPr id="3" name="Content Placeholder 2">
            <a:extLst>
              <a:ext uri="{FF2B5EF4-FFF2-40B4-BE49-F238E27FC236}">
                <a16:creationId xmlns:a16="http://schemas.microsoft.com/office/drawing/2014/main" id="{96AE857F-4EC7-471F-9A40-419CD5B0EC81}"/>
              </a:ext>
            </a:extLst>
          </p:cNvPr>
          <p:cNvSpPr>
            <a:spLocks noGrp="1"/>
          </p:cNvSpPr>
          <p:nvPr>
            <p:ph idx="1"/>
          </p:nvPr>
        </p:nvSpPr>
        <p:spPr>
          <a:xfrm>
            <a:off x="1097280" y="1845734"/>
            <a:ext cx="10058400" cy="4023360"/>
          </a:xfrm>
        </p:spPr>
        <p:txBody>
          <a:bodyPr/>
          <a:lstStyle/>
          <a:p>
            <a:r>
              <a:rPr lang="en-US" dirty="0"/>
              <a:t>Our next step is to build the model. </a:t>
            </a:r>
            <a:endParaRPr lang="en-US" dirty="0">
              <a:solidFill>
                <a:srgbClr val="FF0000"/>
              </a:solidFill>
            </a:endParaRPr>
          </a:p>
        </p:txBody>
      </p:sp>
      <p:sp>
        <p:nvSpPr>
          <p:cNvPr id="4" name="TextBox 3">
            <a:extLst>
              <a:ext uri="{FF2B5EF4-FFF2-40B4-BE49-F238E27FC236}">
                <a16:creationId xmlns:a16="http://schemas.microsoft.com/office/drawing/2014/main" id="{FDB7CF5C-8FE7-449B-839A-E64307011990}"/>
              </a:ext>
            </a:extLst>
          </p:cNvPr>
          <p:cNvSpPr txBox="1"/>
          <p:nvPr/>
        </p:nvSpPr>
        <p:spPr>
          <a:xfrm>
            <a:off x="1036320" y="3500120"/>
            <a:ext cx="10119360" cy="2862322"/>
          </a:xfrm>
          <a:prstGeom prst="rect">
            <a:avLst/>
          </a:prstGeom>
          <a:noFill/>
        </p:spPr>
        <p:txBody>
          <a:bodyPr wrap="square" rtlCol="0">
            <a:spAutoFit/>
          </a:bodyPr>
          <a:lstStyle/>
          <a:p>
            <a:r>
              <a:rPr lang="en-US" dirty="0"/>
              <a:t>Here, were using the </a:t>
            </a:r>
            <a:r>
              <a:rPr lang="en-US" dirty="0" err="1"/>
              <a:t>randomForest</a:t>
            </a:r>
            <a:r>
              <a:rPr lang="en-US" dirty="0"/>
              <a:t>() function to produce an RF model named “model1.rf” (Again, this can be named anything, but common sense is king here). As shown by the values between parenthesis, this is where you specify your </a:t>
            </a:r>
            <a:r>
              <a:rPr lang="en-US" dirty="0" err="1"/>
              <a:t>paramters</a:t>
            </a:r>
            <a:r>
              <a:rPr lang="en-US" dirty="0"/>
              <a:t>.  </a:t>
            </a:r>
          </a:p>
          <a:p>
            <a:r>
              <a:rPr lang="en-US" dirty="0"/>
              <a:t>For the items between parenthesis: </a:t>
            </a:r>
          </a:p>
          <a:p>
            <a:r>
              <a:rPr lang="en-US" dirty="0"/>
              <a:t>“Label”, is referring to the name of our outcome column, i.e. the thing were trying to predict. The “~.” is needed.</a:t>
            </a:r>
          </a:p>
          <a:p>
            <a:r>
              <a:rPr lang="en-US" dirty="0"/>
              <a:t>“data = e1Train” refers to the data we want the model trained on</a:t>
            </a:r>
          </a:p>
          <a:p>
            <a:r>
              <a:rPr lang="en-US" dirty="0"/>
              <a:t>“</a:t>
            </a:r>
            <a:r>
              <a:rPr lang="en-US" dirty="0" err="1"/>
              <a:t>ntree</a:t>
            </a:r>
            <a:r>
              <a:rPr lang="en-US" dirty="0"/>
              <a:t> =“ is the number of trees we want in out model</a:t>
            </a:r>
          </a:p>
          <a:p>
            <a:r>
              <a:rPr lang="en-US" dirty="0"/>
              <a:t>“</a:t>
            </a:r>
            <a:r>
              <a:rPr lang="en-US" dirty="0" err="1"/>
              <a:t>mtry</a:t>
            </a:r>
            <a:r>
              <a:rPr lang="en-US" dirty="0"/>
              <a:t>” = like </a:t>
            </a:r>
            <a:r>
              <a:rPr lang="en-US" dirty="0" err="1"/>
              <a:t>ntree</a:t>
            </a:r>
            <a:r>
              <a:rPr lang="en-US" dirty="0"/>
              <a:t>, this is our value for </a:t>
            </a:r>
            <a:r>
              <a:rPr lang="en-US" dirty="0" err="1"/>
              <a:t>mtry</a:t>
            </a:r>
            <a:r>
              <a:rPr lang="en-US" dirty="0"/>
              <a:t>. </a:t>
            </a:r>
          </a:p>
          <a:p>
            <a:r>
              <a:rPr lang="en-US" dirty="0"/>
              <a:t>“CUTOFF= “ value for cutoff. Etc.  </a:t>
            </a:r>
          </a:p>
        </p:txBody>
      </p:sp>
      <p:pic>
        <p:nvPicPr>
          <p:cNvPr id="7" name="Picture 6">
            <a:extLst>
              <a:ext uri="{FF2B5EF4-FFF2-40B4-BE49-F238E27FC236}">
                <a16:creationId xmlns:a16="http://schemas.microsoft.com/office/drawing/2014/main" id="{25819431-AF97-4C8D-9195-0FE1818EC156}"/>
              </a:ext>
            </a:extLst>
          </p:cNvPr>
          <p:cNvPicPr>
            <a:picLocks noChangeAspect="1"/>
          </p:cNvPicPr>
          <p:nvPr/>
        </p:nvPicPr>
        <p:blipFill rotWithShape="1">
          <a:blip r:embed="rId2" cstate="print"/>
          <a:srcRect l="1150" t="25777" r="52326" b="62642"/>
          <a:stretch/>
        </p:blipFill>
        <p:spPr>
          <a:xfrm>
            <a:off x="1097279" y="2177143"/>
            <a:ext cx="9112113" cy="1251857"/>
          </a:xfrm>
          <a:prstGeom prst="rect">
            <a:avLst/>
          </a:prstGeom>
        </p:spPr>
      </p:pic>
    </p:spTree>
    <p:extLst>
      <p:ext uri="{BB962C8B-B14F-4D97-AF65-F5344CB8AC3E}">
        <p14:creationId xmlns:p14="http://schemas.microsoft.com/office/powerpoint/2010/main" val="3024445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4C6D6-342F-4696-A3E3-C665276AA228}"/>
              </a:ext>
            </a:extLst>
          </p:cNvPr>
          <p:cNvSpPr>
            <a:spLocks noGrp="1"/>
          </p:cNvSpPr>
          <p:nvPr>
            <p:ph type="title"/>
          </p:nvPr>
        </p:nvSpPr>
        <p:spPr/>
        <p:txBody>
          <a:bodyPr/>
          <a:lstStyle/>
          <a:p>
            <a:r>
              <a:rPr lang="en-US" dirty="0"/>
              <a:t>RF tutorial using R Studio </a:t>
            </a:r>
          </a:p>
        </p:txBody>
      </p:sp>
      <p:sp>
        <p:nvSpPr>
          <p:cNvPr id="3" name="Content Placeholder 2">
            <a:extLst>
              <a:ext uri="{FF2B5EF4-FFF2-40B4-BE49-F238E27FC236}">
                <a16:creationId xmlns:a16="http://schemas.microsoft.com/office/drawing/2014/main" id="{96AE857F-4EC7-471F-9A40-419CD5B0EC81}"/>
              </a:ext>
            </a:extLst>
          </p:cNvPr>
          <p:cNvSpPr>
            <a:spLocks noGrp="1"/>
          </p:cNvSpPr>
          <p:nvPr>
            <p:ph idx="1"/>
          </p:nvPr>
        </p:nvSpPr>
        <p:spPr>
          <a:xfrm>
            <a:off x="1097280" y="1845734"/>
            <a:ext cx="10058400" cy="4023360"/>
          </a:xfrm>
        </p:spPr>
        <p:txBody>
          <a:bodyPr/>
          <a:lstStyle/>
          <a:p>
            <a:r>
              <a:rPr lang="en-US" dirty="0"/>
              <a:t>Our next step is to build the model. </a:t>
            </a:r>
            <a:endParaRPr lang="en-US" dirty="0">
              <a:solidFill>
                <a:srgbClr val="FF0000"/>
              </a:solidFill>
            </a:endParaRPr>
          </a:p>
        </p:txBody>
      </p:sp>
      <p:sp>
        <p:nvSpPr>
          <p:cNvPr id="4" name="TextBox 3">
            <a:extLst>
              <a:ext uri="{FF2B5EF4-FFF2-40B4-BE49-F238E27FC236}">
                <a16:creationId xmlns:a16="http://schemas.microsoft.com/office/drawing/2014/main" id="{FDB7CF5C-8FE7-449B-839A-E64307011990}"/>
              </a:ext>
            </a:extLst>
          </p:cNvPr>
          <p:cNvSpPr txBox="1"/>
          <p:nvPr/>
        </p:nvSpPr>
        <p:spPr>
          <a:xfrm>
            <a:off x="1036320" y="3375977"/>
            <a:ext cx="10119360" cy="1200329"/>
          </a:xfrm>
          <a:prstGeom prst="rect">
            <a:avLst/>
          </a:prstGeom>
          <a:noFill/>
        </p:spPr>
        <p:txBody>
          <a:bodyPr wrap="square" rtlCol="0">
            <a:spAutoFit/>
          </a:bodyPr>
          <a:lstStyle/>
          <a:p>
            <a:r>
              <a:rPr lang="en-US" dirty="0"/>
              <a:t>The key here is to run this model using the recommended parameters values for </a:t>
            </a:r>
            <a:r>
              <a:rPr lang="en-US" dirty="0" err="1"/>
              <a:t>ntree</a:t>
            </a:r>
            <a:r>
              <a:rPr lang="en-US" dirty="0"/>
              <a:t>, </a:t>
            </a:r>
            <a:r>
              <a:rPr lang="en-US" dirty="0" err="1"/>
              <a:t>mtry</a:t>
            </a:r>
            <a:r>
              <a:rPr lang="en-US" dirty="0"/>
              <a:t>, and cutoff. Each time you run, you’re going to want to run the print(model1.rf) command to display the results of your model. Record these, each time and record what values give you the lowest OOB percentage. Output from print(model1.rf) should look something like:</a:t>
            </a:r>
          </a:p>
        </p:txBody>
      </p:sp>
      <p:pic>
        <p:nvPicPr>
          <p:cNvPr id="9" name="Picture 8">
            <a:extLst>
              <a:ext uri="{FF2B5EF4-FFF2-40B4-BE49-F238E27FC236}">
                <a16:creationId xmlns:a16="http://schemas.microsoft.com/office/drawing/2014/main" id="{58CE69A2-4D3B-4DD0-8E74-8DBE42A60D41}"/>
              </a:ext>
            </a:extLst>
          </p:cNvPr>
          <p:cNvPicPr>
            <a:picLocks noChangeAspect="1"/>
          </p:cNvPicPr>
          <p:nvPr/>
        </p:nvPicPr>
        <p:blipFill rotWithShape="1">
          <a:blip r:embed="rId2" cstate="print"/>
          <a:srcRect l="234" t="72946" r="58512" b="2410"/>
          <a:stretch/>
        </p:blipFill>
        <p:spPr>
          <a:xfrm>
            <a:off x="5399635" y="4302481"/>
            <a:ext cx="5477198" cy="1840438"/>
          </a:xfrm>
          <a:prstGeom prst="rect">
            <a:avLst/>
          </a:prstGeom>
        </p:spPr>
      </p:pic>
      <p:pic>
        <p:nvPicPr>
          <p:cNvPr id="7" name="Picture 6">
            <a:extLst>
              <a:ext uri="{FF2B5EF4-FFF2-40B4-BE49-F238E27FC236}">
                <a16:creationId xmlns:a16="http://schemas.microsoft.com/office/drawing/2014/main" id="{6E4DF666-61F8-4692-93E5-661F9918D83C}"/>
              </a:ext>
            </a:extLst>
          </p:cNvPr>
          <p:cNvPicPr>
            <a:picLocks noChangeAspect="1"/>
          </p:cNvPicPr>
          <p:nvPr/>
        </p:nvPicPr>
        <p:blipFill rotWithShape="1">
          <a:blip r:embed="rId3" cstate="print"/>
          <a:srcRect l="1150" t="25777" r="52326" b="62642"/>
          <a:stretch/>
        </p:blipFill>
        <p:spPr>
          <a:xfrm>
            <a:off x="1097279" y="2177143"/>
            <a:ext cx="9112113" cy="1251857"/>
          </a:xfrm>
          <a:prstGeom prst="rect">
            <a:avLst/>
          </a:prstGeom>
        </p:spPr>
      </p:pic>
      <p:sp>
        <p:nvSpPr>
          <p:cNvPr id="5" name="TextBox 4">
            <a:extLst>
              <a:ext uri="{FF2B5EF4-FFF2-40B4-BE49-F238E27FC236}">
                <a16:creationId xmlns:a16="http://schemas.microsoft.com/office/drawing/2014/main" id="{2B91BDD0-8947-4CD8-AA11-57224337F5AB}"/>
              </a:ext>
            </a:extLst>
          </p:cNvPr>
          <p:cNvSpPr txBox="1"/>
          <p:nvPr/>
        </p:nvSpPr>
        <p:spPr>
          <a:xfrm>
            <a:off x="3516173" y="4831549"/>
            <a:ext cx="1482548" cy="1477328"/>
          </a:xfrm>
          <a:prstGeom prst="rect">
            <a:avLst/>
          </a:prstGeom>
          <a:noFill/>
        </p:spPr>
        <p:txBody>
          <a:bodyPr wrap="square" rtlCol="0">
            <a:spAutoFit/>
          </a:bodyPr>
          <a:lstStyle/>
          <a:p>
            <a:r>
              <a:rPr lang="en-US" dirty="0">
                <a:solidFill>
                  <a:srgbClr val="FF0000"/>
                </a:solidFill>
              </a:rPr>
              <a:t>OOB ERROR</a:t>
            </a:r>
          </a:p>
          <a:p>
            <a:endParaRPr lang="en-US" dirty="0">
              <a:solidFill>
                <a:srgbClr val="FF0000"/>
              </a:solidFill>
            </a:endParaRPr>
          </a:p>
          <a:p>
            <a:r>
              <a:rPr lang="en-US" dirty="0">
                <a:solidFill>
                  <a:srgbClr val="FF0000"/>
                </a:solidFill>
              </a:rPr>
              <a:t>CONFUSION MATRIX</a:t>
            </a:r>
          </a:p>
          <a:p>
            <a:endParaRPr lang="en-US" dirty="0"/>
          </a:p>
        </p:txBody>
      </p:sp>
      <p:cxnSp>
        <p:nvCxnSpPr>
          <p:cNvPr id="10" name="Straight Arrow Connector 9">
            <a:extLst>
              <a:ext uri="{FF2B5EF4-FFF2-40B4-BE49-F238E27FC236}">
                <a16:creationId xmlns:a16="http://schemas.microsoft.com/office/drawing/2014/main" id="{EC1F22A0-B5C6-4F62-B7F6-35FB294CF59B}"/>
              </a:ext>
            </a:extLst>
          </p:cNvPr>
          <p:cNvCxnSpPr/>
          <p:nvPr/>
        </p:nvCxnSpPr>
        <p:spPr>
          <a:xfrm>
            <a:off x="4856480" y="5067617"/>
            <a:ext cx="1046480" cy="4995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FF29ACD-C60E-406D-945B-975324447BB8}"/>
              </a:ext>
            </a:extLst>
          </p:cNvPr>
          <p:cNvCxnSpPr/>
          <p:nvPr/>
        </p:nvCxnSpPr>
        <p:spPr>
          <a:xfrm flipV="1">
            <a:off x="4675938" y="5775140"/>
            <a:ext cx="723697" cy="939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0C929F9-68AF-446B-8E7A-0A54C2BB14D2}"/>
              </a:ext>
            </a:extLst>
          </p:cNvPr>
          <p:cNvSpPr txBox="1"/>
          <p:nvPr/>
        </p:nvSpPr>
        <p:spPr>
          <a:xfrm>
            <a:off x="1955394" y="4831549"/>
            <a:ext cx="1560779" cy="923330"/>
          </a:xfrm>
          <a:prstGeom prst="rect">
            <a:avLst/>
          </a:prstGeom>
          <a:noFill/>
        </p:spPr>
        <p:txBody>
          <a:bodyPr wrap="square" rtlCol="0">
            <a:spAutoFit/>
          </a:bodyPr>
          <a:lstStyle/>
          <a:p>
            <a:r>
              <a:rPr lang="en-US" dirty="0"/>
              <a:t>For this model with these parameters…:</a:t>
            </a:r>
          </a:p>
        </p:txBody>
      </p:sp>
    </p:spTree>
    <p:extLst>
      <p:ext uri="{BB962C8B-B14F-4D97-AF65-F5344CB8AC3E}">
        <p14:creationId xmlns:p14="http://schemas.microsoft.com/office/powerpoint/2010/main" val="2943712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4C6D6-342F-4696-A3E3-C665276AA228}"/>
              </a:ext>
            </a:extLst>
          </p:cNvPr>
          <p:cNvSpPr>
            <a:spLocks noGrp="1"/>
          </p:cNvSpPr>
          <p:nvPr>
            <p:ph type="title"/>
          </p:nvPr>
        </p:nvSpPr>
        <p:spPr/>
        <p:txBody>
          <a:bodyPr/>
          <a:lstStyle/>
          <a:p>
            <a:r>
              <a:rPr lang="en-US" dirty="0"/>
              <a:t>RF tutorial using R Studio </a:t>
            </a:r>
          </a:p>
        </p:txBody>
      </p:sp>
      <p:sp>
        <p:nvSpPr>
          <p:cNvPr id="3" name="Content Placeholder 2">
            <a:extLst>
              <a:ext uri="{FF2B5EF4-FFF2-40B4-BE49-F238E27FC236}">
                <a16:creationId xmlns:a16="http://schemas.microsoft.com/office/drawing/2014/main" id="{96AE857F-4EC7-471F-9A40-419CD5B0EC81}"/>
              </a:ext>
            </a:extLst>
          </p:cNvPr>
          <p:cNvSpPr>
            <a:spLocks noGrp="1"/>
          </p:cNvSpPr>
          <p:nvPr>
            <p:ph idx="1"/>
          </p:nvPr>
        </p:nvSpPr>
        <p:spPr>
          <a:xfrm>
            <a:off x="1097280" y="1845734"/>
            <a:ext cx="10058400" cy="660400"/>
          </a:xfrm>
        </p:spPr>
        <p:txBody>
          <a:bodyPr/>
          <a:lstStyle/>
          <a:p>
            <a:r>
              <a:rPr lang="en-US" dirty="0"/>
              <a:t>Now that we have our RF model, we can run a few samples from the data through it </a:t>
            </a:r>
          </a:p>
          <a:p>
            <a:endParaRPr lang="en-US" dirty="0">
              <a:solidFill>
                <a:srgbClr val="FF0000"/>
              </a:solidFill>
            </a:endParaRPr>
          </a:p>
          <a:p>
            <a:endParaRPr lang="en-US" dirty="0">
              <a:solidFill>
                <a:srgbClr val="FF0000"/>
              </a:solidFill>
            </a:endParaRPr>
          </a:p>
          <a:p>
            <a:endParaRPr lang="en-US" dirty="0">
              <a:solidFill>
                <a:srgbClr val="FF0000"/>
              </a:solidFill>
            </a:endParaRPr>
          </a:p>
        </p:txBody>
      </p:sp>
      <p:sp>
        <p:nvSpPr>
          <p:cNvPr id="6" name="TextBox 5">
            <a:extLst>
              <a:ext uri="{FF2B5EF4-FFF2-40B4-BE49-F238E27FC236}">
                <a16:creationId xmlns:a16="http://schemas.microsoft.com/office/drawing/2014/main" id="{ADF2795F-5709-4758-9502-F027EAC2C2A5}"/>
              </a:ext>
            </a:extLst>
          </p:cNvPr>
          <p:cNvSpPr txBox="1"/>
          <p:nvPr/>
        </p:nvSpPr>
        <p:spPr>
          <a:xfrm>
            <a:off x="1097280" y="3155077"/>
            <a:ext cx="9977120" cy="2862322"/>
          </a:xfrm>
          <a:prstGeom prst="rect">
            <a:avLst/>
          </a:prstGeom>
          <a:noFill/>
        </p:spPr>
        <p:txBody>
          <a:bodyPr wrap="square" rtlCol="0">
            <a:spAutoFit/>
          </a:bodyPr>
          <a:lstStyle/>
          <a:p>
            <a:r>
              <a:rPr lang="en-US" dirty="0"/>
              <a:t>As show, this is just some fairly rudimentary code to run individual samples through your new model. </a:t>
            </a:r>
          </a:p>
          <a:p>
            <a:r>
              <a:rPr lang="en-US" dirty="0"/>
              <a:t>“samples” is just a list of numbers that will tell the model which row to run a prediction on. I’ve chosen 1, 60, and 300, but it can be anything, as long as it’s a number equal to or smaller than the number of rows in e1Test. </a:t>
            </a:r>
          </a:p>
          <a:p>
            <a:endParaRPr lang="en-US" dirty="0"/>
          </a:p>
          <a:p>
            <a:r>
              <a:rPr lang="en-US" dirty="0" err="1"/>
              <a:t>predSamples</a:t>
            </a:r>
            <a:r>
              <a:rPr lang="en-US" dirty="0"/>
              <a:t> will store the output of predict(). The first item, (model1.rf, …) is the model we want to use, and (…., e1data[samples, ]) is the data we’ll run on. Note: [samples, ] essentially inputs [1, ], [60,], [300, ], where the first number represents what row to pick, and the blank value after the comma tells the data to use all columns for that row. Calling [, 60] would have the opposite effect, vice versa. </a:t>
            </a:r>
          </a:p>
          <a:p>
            <a:endParaRPr lang="en-US" dirty="0"/>
          </a:p>
        </p:txBody>
      </p:sp>
      <p:pic>
        <p:nvPicPr>
          <p:cNvPr id="8" name="Picture 7">
            <a:extLst>
              <a:ext uri="{FF2B5EF4-FFF2-40B4-BE49-F238E27FC236}">
                <a16:creationId xmlns:a16="http://schemas.microsoft.com/office/drawing/2014/main" id="{552ABCF1-9B63-4C97-A813-2F15C91F9D69}"/>
              </a:ext>
            </a:extLst>
          </p:cNvPr>
          <p:cNvPicPr>
            <a:picLocks noChangeAspect="1"/>
          </p:cNvPicPr>
          <p:nvPr/>
        </p:nvPicPr>
        <p:blipFill rotWithShape="1">
          <a:blip r:embed="rId2" cstate="print"/>
          <a:srcRect l="1676" t="40661" r="61382" b="53516"/>
          <a:stretch/>
        </p:blipFill>
        <p:spPr>
          <a:xfrm>
            <a:off x="1188721" y="2276007"/>
            <a:ext cx="8296455" cy="735637"/>
          </a:xfrm>
          <a:prstGeom prst="rect">
            <a:avLst/>
          </a:prstGeom>
        </p:spPr>
      </p:pic>
    </p:spTree>
    <p:extLst>
      <p:ext uri="{BB962C8B-B14F-4D97-AF65-F5344CB8AC3E}">
        <p14:creationId xmlns:p14="http://schemas.microsoft.com/office/powerpoint/2010/main" val="3712741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4C6D6-342F-4696-A3E3-C665276AA228}"/>
              </a:ext>
            </a:extLst>
          </p:cNvPr>
          <p:cNvSpPr>
            <a:spLocks noGrp="1"/>
          </p:cNvSpPr>
          <p:nvPr>
            <p:ph type="title"/>
          </p:nvPr>
        </p:nvSpPr>
        <p:spPr/>
        <p:txBody>
          <a:bodyPr/>
          <a:lstStyle/>
          <a:p>
            <a:r>
              <a:rPr lang="en-US" dirty="0"/>
              <a:t>RF tutorial using R Studio </a:t>
            </a:r>
          </a:p>
        </p:txBody>
      </p:sp>
      <p:sp>
        <p:nvSpPr>
          <p:cNvPr id="3" name="Content Placeholder 2">
            <a:extLst>
              <a:ext uri="{FF2B5EF4-FFF2-40B4-BE49-F238E27FC236}">
                <a16:creationId xmlns:a16="http://schemas.microsoft.com/office/drawing/2014/main" id="{96AE857F-4EC7-471F-9A40-419CD5B0EC81}"/>
              </a:ext>
            </a:extLst>
          </p:cNvPr>
          <p:cNvSpPr>
            <a:spLocks noGrp="1"/>
          </p:cNvSpPr>
          <p:nvPr>
            <p:ph idx="1"/>
          </p:nvPr>
        </p:nvSpPr>
        <p:spPr>
          <a:xfrm>
            <a:off x="1097280" y="1845734"/>
            <a:ext cx="10058400" cy="660400"/>
          </a:xfrm>
        </p:spPr>
        <p:txBody>
          <a:bodyPr/>
          <a:lstStyle/>
          <a:p>
            <a:r>
              <a:rPr lang="en-US" dirty="0"/>
              <a:t>Now that we have our RF model, we can run a few samples from the data through it </a:t>
            </a:r>
          </a:p>
          <a:p>
            <a:endParaRPr lang="en-US" dirty="0">
              <a:solidFill>
                <a:srgbClr val="FF0000"/>
              </a:solidFill>
            </a:endParaRPr>
          </a:p>
          <a:p>
            <a:endParaRPr lang="en-US" dirty="0">
              <a:solidFill>
                <a:srgbClr val="FF0000"/>
              </a:solidFill>
            </a:endParaRPr>
          </a:p>
          <a:p>
            <a:endParaRPr lang="en-US" dirty="0">
              <a:solidFill>
                <a:srgbClr val="FF0000"/>
              </a:solidFill>
            </a:endParaRPr>
          </a:p>
        </p:txBody>
      </p:sp>
      <p:sp>
        <p:nvSpPr>
          <p:cNvPr id="6" name="TextBox 5">
            <a:extLst>
              <a:ext uri="{FF2B5EF4-FFF2-40B4-BE49-F238E27FC236}">
                <a16:creationId xmlns:a16="http://schemas.microsoft.com/office/drawing/2014/main" id="{ADF2795F-5709-4758-9502-F027EAC2C2A5}"/>
              </a:ext>
            </a:extLst>
          </p:cNvPr>
          <p:cNvSpPr txBox="1"/>
          <p:nvPr/>
        </p:nvSpPr>
        <p:spPr>
          <a:xfrm>
            <a:off x="1097280" y="3203788"/>
            <a:ext cx="9977120" cy="923330"/>
          </a:xfrm>
          <a:prstGeom prst="rect">
            <a:avLst/>
          </a:prstGeom>
          <a:noFill/>
        </p:spPr>
        <p:txBody>
          <a:bodyPr wrap="square" rtlCol="0">
            <a:spAutoFit/>
          </a:bodyPr>
          <a:lstStyle/>
          <a:p>
            <a:r>
              <a:rPr lang="en-US" dirty="0"/>
              <a:t>Lastly, running line 32, print(</a:t>
            </a:r>
            <a:r>
              <a:rPr lang="en-US" dirty="0" err="1"/>
              <a:t>predSamples</a:t>
            </a:r>
            <a:r>
              <a:rPr lang="en-US" dirty="0"/>
              <a:t>) (or whatever you named your variable on line 31), should output something like this in your console:</a:t>
            </a:r>
          </a:p>
          <a:p>
            <a:endParaRPr lang="en-US" dirty="0"/>
          </a:p>
        </p:txBody>
      </p:sp>
      <p:sp>
        <p:nvSpPr>
          <p:cNvPr id="5" name="TextBox 4">
            <a:extLst>
              <a:ext uri="{FF2B5EF4-FFF2-40B4-BE49-F238E27FC236}">
                <a16:creationId xmlns:a16="http://schemas.microsoft.com/office/drawing/2014/main" id="{46100FF9-7CF9-4F9C-B566-7BD1E6C43A6F}"/>
              </a:ext>
            </a:extLst>
          </p:cNvPr>
          <p:cNvSpPr txBox="1"/>
          <p:nvPr/>
        </p:nvSpPr>
        <p:spPr>
          <a:xfrm>
            <a:off x="1188721" y="5222240"/>
            <a:ext cx="10657840" cy="646331"/>
          </a:xfrm>
          <a:prstGeom prst="rect">
            <a:avLst/>
          </a:prstGeom>
          <a:noFill/>
        </p:spPr>
        <p:txBody>
          <a:bodyPr wrap="square" rtlCol="0">
            <a:spAutoFit/>
          </a:bodyPr>
          <a:lstStyle/>
          <a:p>
            <a:r>
              <a:rPr lang="en-US" dirty="0"/>
              <a:t>Note: Your values will probably be different (different initial samples), but the format should correspond to how many samples you’ve selected, like shown i.e. 3 columns because I ran 3 variables.  </a:t>
            </a:r>
          </a:p>
        </p:txBody>
      </p:sp>
      <p:sp>
        <p:nvSpPr>
          <p:cNvPr id="7" name="TextBox 6">
            <a:extLst>
              <a:ext uri="{FF2B5EF4-FFF2-40B4-BE49-F238E27FC236}">
                <a16:creationId xmlns:a16="http://schemas.microsoft.com/office/drawing/2014/main" id="{AA35511D-1627-4565-922E-50E824051C6A}"/>
              </a:ext>
            </a:extLst>
          </p:cNvPr>
          <p:cNvSpPr txBox="1"/>
          <p:nvPr/>
        </p:nvSpPr>
        <p:spPr>
          <a:xfrm>
            <a:off x="4134903" y="3924533"/>
            <a:ext cx="6040229" cy="923330"/>
          </a:xfrm>
          <a:prstGeom prst="rect">
            <a:avLst/>
          </a:prstGeom>
          <a:noFill/>
        </p:spPr>
        <p:txBody>
          <a:bodyPr wrap="square" rtlCol="0">
            <a:spAutoFit/>
          </a:bodyPr>
          <a:lstStyle/>
          <a:p>
            <a:r>
              <a:rPr lang="en-US" dirty="0">
                <a:solidFill>
                  <a:srgbClr val="FF0000"/>
                </a:solidFill>
              </a:rPr>
              <a:t>This matrix shows the samples you selected by row (rows 1, 60, 300 of the data, with their predicted label/class below (1, 1, 0). Try messing around with other sample values </a:t>
            </a:r>
          </a:p>
        </p:txBody>
      </p:sp>
      <p:pic>
        <p:nvPicPr>
          <p:cNvPr id="9" name="Picture 8">
            <a:extLst>
              <a:ext uri="{FF2B5EF4-FFF2-40B4-BE49-F238E27FC236}">
                <a16:creationId xmlns:a16="http://schemas.microsoft.com/office/drawing/2014/main" id="{7CBBD131-4155-4771-B0F4-2F0E910A2109}"/>
              </a:ext>
            </a:extLst>
          </p:cNvPr>
          <p:cNvPicPr>
            <a:picLocks noChangeAspect="1"/>
          </p:cNvPicPr>
          <p:nvPr/>
        </p:nvPicPr>
        <p:blipFill rotWithShape="1">
          <a:blip r:embed="rId2" cstate="print"/>
          <a:srcRect l="1676" t="40661" r="61382" b="53516"/>
          <a:stretch/>
        </p:blipFill>
        <p:spPr>
          <a:xfrm>
            <a:off x="1188721" y="2276007"/>
            <a:ext cx="8296455" cy="735637"/>
          </a:xfrm>
          <a:prstGeom prst="rect">
            <a:avLst/>
          </a:prstGeom>
        </p:spPr>
      </p:pic>
      <p:pic>
        <p:nvPicPr>
          <p:cNvPr id="11" name="Picture 10">
            <a:extLst>
              <a:ext uri="{FF2B5EF4-FFF2-40B4-BE49-F238E27FC236}">
                <a16:creationId xmlns:a16="http://schemas.microsoft.com/office/drawing/2014/main" id="{1E9AB251-5036-492E-9D34-7BB494853F67}"/>
              </a:ext>
            </a:extLst>
          </p:cNvPr>
          <p:cNvPicPr>
            <a:picLocks noChangeAspect="1"/>
          </p:cNvPicPr>
          <p:nvPr/>
        </p:nvPicPr>
        <p:blipFill rotWithShape="1">
          <a:blip r:embed="rId2" cstate="print"/>
          <a:srcRect l="574" t="91533" r="90615" b="3244"/>
          <a:stretch/>
        </p:blipFill>
        <p:spPr>
          <a:xfrm>
            <a:off x="1097280" y="3994947"/>
            <a:ext cx="2558375" cy="852916"/>
          </a:xfrm>
          <a:prstGeom prst="rect">
            <a:avLst/>
          </a:prstGeom>
        </p:spPr>
      </p:pic>
      <p:cxnSp>
        <p:nvCxnSpPr>
          <p:cNvPr id="13" name="Straight Arrow Connector 12">
            <a:extLst>
              <a:ext uri="{FF2B5EF4-FFF2-40B4-BE49-F238E27FC236}">
                <a16:creationId xmlns:a16="http://schemas.microsoft.com/office/drawing/2014/main" id="{EE324810-262E-4AFF-9181-0AC4F32F4572}"/>
              </a:ext>
            </a:extLst>
          </p:cNvPr>
          <p:cNvCxnSpPr/>
          <p:nvPr/>
        </p:nvCxnSpPr>
        <p:spPr>
          <a:xfrm flipH="1" flipV="1">
            <a:off x="3722332" y="4127118"/>
            <a:ext cx="345894" cy="858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7151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4C6D6-342F-4696-A3E3-C665276AA228}"/>
              </a:ext>
            </a:extLst>
          </p:cNvPr>
          <p:cNvSpPr>
            <a:spLocks noGrp="1"/>
          </p:cNvSpPr>
          <p:nvPr>
            <p:ph type="title"/>
          </p:nvPr>
        </p:nvSpPr>
        <p:spPr/>
        <p:txBody>
          <a:bodyPr/>
          <a:lstStyle/>
          <a:p>
            <a:r>
              <a:rPr lang="en-US" dirty="0"/>
              <a:t>RF tutorial using R Studio </a:t>
            </a:r>
          </a:p>
        </p:txBody>
      </p:sp>
      <p:sp>
        <p:nvSpPr>
          <p:cNvPr id="3" name="Content Placeholder 2">
            <a:extLst>
              <a:ext uri="{FF2B5EF4-FFF2-40B4-BE49-F238E27FC236}">
                <a16:creationId xmlns:a16="http://schemas.microsoft.com/office/drawing/2014/main" id="{96AE857F-4EC7-471F-9A40-419CD5B0EC81}"/>
              </a:ext>
            </a:extLst>
          </p:cNvPr>
          <p:cNvSpPr>
            <a:spLocks noGrp="1"/>
          </p:cNvSpPr>
          <p:nvPr>
            <p:ph idx="1"/>
          </p:nvPr>
        </p:nvSpPr>
        <p:spPr>
          <a:xfrm>
            <a:off x="1097280" y="1845734"/>
            <a:ext cx="9997440" cy="1954106"/>
          </a:xfrm>
        </p:spPr>
        <p:txBody>
          <a:bodyPr>
            <a:normAutofit/>
          </a:bodyPr>
          <a:lstStyle/>
          <a:p>
            <a:r>
              <a:rPr lang="en-US" dirty="0"/>
              <a:t>Now that we’ve built a model, found the best parameters, and explored the results a bit, we can use the values who’s combination yielded the lowest OOB error for our runtime engine</a:t>
            </a:r>
          </a:p>
          <a:p>
            <a:r>
              <a:rPr lang="en-US" dirty="0"/>
              <a:t>This is just like what we did to build the model1.rf, but we’re going to use the best parameters on the entire dataset. </a:t>
            </a:r>
            <a:r>
              <a:rPr lang="en-US" dirty="0">
                <a:solidFill>
                  <a:srgbClr val="FF0000"/>
                </a:solidFill>
              </a:rPr>
              <a:t>Note: these values do not necessarily indicate the best parameters </a:t>
            </a:r>
          </a:p>
          <a:p>
            <a:endParaRPr lang="en-US" dirty="0">
              <a:solidFill>
                <a:srgbClr val="FF0000"/>
              </a:solidFill>
            </a:endParaRPr>
          </a:p>
          <a:p>
            <a:endParaRPr lang="en-US" dirty="0">
              <a:solidFill>
                <a:srgbClr val="FF0000"/>
              </a:solidFill>
            </a:endParaRPr>
          </a:p>
          <a:p>
            <a:endParaRPr lang="en-US" dirty="0">
              <a:solidFill>
                <a:srgbClr val="FF0000"/>
              </a:solidFill>
            </a:endParaRPr>
          </a:p>
        </p:txBody>
      </p:sp>
      <p:sp>
        <p:nvSpPr>
          <p:cNvPr id="6" name="TextBox 5">
            <a:extLst>
              <a:ext uri="{FF2B5EF4-FFF2-40B4-BE49-F238E27FC236}">
                <a16:creationId xmlns:a16="http://schemas.microsoft.com/office/drawing/2014/main" id="{ADF2795F-5709-4758-9502-F027EAC2C2A5}"/>
              </a:ext>
            </a:extLst>
          </p:cNvPr>
          <p:cNvSpPr txBox="1"/>
          <p:nvPr/>
        </p:nvSpPr>
        <p:spPr>
          <a:xfrm>
            <a:off x="1137920" y="4717703"/>
            <a:ext cx="9977120" cy="646331"/>
          </a:xfrm>
          <a:prstGeom prst="rect">
            <a:avLst/>
          </a:prstGeom>
          <a:noFill/>
        </p:spPr>
        <p:txBody>
          <a:bodyPr wrap="square" rtlCol="0">
            <a:spAutoFit/>
          </a:bodyPr>
          <a:lstStyle/>
          <a:p>
            <a:r>
              <a:rPr lang="en-US" dirty="0"/>
              <a:t>As before, print </a:t>
            </a:r>
            <a:r>
              <a:rPr lang="en-US" dirty="0" err="1"/>
              <a:t>runtime.rf</a:t>
            </a:r>
            <a:r>
              <a:rPr lang="en-US" dirty="0"/>
              <a:t>, and visually compare its output with that of model1.rf. This, as before, will give you a printout of your OOB and a confusion matrix for the model</a:t>
            </a:r>
          </a:p>
        </p:txBody>
      </p:sp>
      <p:pic>
        <p:nvPicPr>
          <p:cNvPr id="8" name="Picture 7">
            <a:extLst>
              <a:ext uri="{FF2B5EF4-FFF2-40B4-BE49-F238E27FC236}">
                <a16:creationId xmlns:a16="http://schemas.microsoft.com/office/drawing/2014/main" id="{F6C07320-6F3D-4604-9C41-CDF84AAEBE7C}"/>
              </a:ext>
            </a:extLst>
          </p:cNvPr>
          <p:cNvPicPr>
            <a:picLocks noChangeAspect="1"/>
          </p:cNvPicPr>
          <p:nvPr/>
        </p:nvPicPr>
        <p:blipFill rotWithShape="1">
          <a:blip r:embed="rId2" cstate="print"/>
          <a:srcRect l="1357" t="48085" r="65857" b="39037"/>
          <a:stretch/>
        </p:blipFill>
        <p:spPr>
          <a:xfrm>
            <a:off x="1249681" y="3251200"/>
            <a:ext cx="6765181" cy="1466503"/>
          </a:xfrm>
          <a:prstGeom prst="rect">
            <a:avLst/>
          </a:prstGeom>
        </p:spPr>
      </p:pic>
    </p:spTree>
    <p:extLst>
      <p:ext uri="{BB962C8B-B14F-4D97-AF65-F5344CB8AC3E}">
        <p14:creationId xmlns:p14="http://schemas.microsoft.com/office/powerpoint/2010/main" val="668849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4C6D6-342F-4696-A3E3-C665276AA228}"/>
              </a:ext>
            </a:extLst>
          </p:cNvPr>
          <p:cNvSpPr>
            <a:spLocks noGrp="1"/>
          </p:cNvSpPr>
          <p:nvPr>
            <p:ph type="title"/>
          </p:nvPr>
        </p:nvSpPr>
        <p:spPr/>
        <p:txBody>
          <a:bodyPr/>
          <a:lstStyle/>
          <a:p>
            <a:r>
              <a:rPr lang="en-US" dirty="0"/>
              <a:t>RF tutorial using R Studio </a:t>
            </a:r>
          </a:p>
        </p:txBody>
      </p:sp>
      <p:sp>
        <p:nvSpPr>
          <p:cNvPr id="3" name="Content Placeholder 2">
            <a:extLst>
              <a:ext uri="{FF2B5EF4-FFF2-40B4-BE49-F238E27FC236}">
                <a16:creationId xmlns:a16="http://schemas.microsoft.com/office/drawing/2014/main" id="{96AE857F-4EC7-471F-9A40-419CD5B0EC81}"/>
              </a:ext>
            </a:extLst>
          </p:cNvPr>
          <p:cNvSpPr>
            <a:spLocks noGrp="1"/>
          </p:cNvSpPr>
          <p:nvPr>
            <p:ph idx="1"/>
          </p:nvPr>
        </p:nvSpPr>
        <p:spPr>
          <a:xfrm>
            <a:off x="1097280" y="1845734"/>
            <a:ext cx="9997440" cy="1954106"/>
          </a:xfrm>
        </p:spPr>
        <p:txBody>
          <a:bodyPr>
            <a:normAutofit/>
          </a:bodyPr>
          <a:lstStyle/>
          <a:p>
            <a:r>
              <a:rPr lang="en-US" dirty="0"/>
              <a:t>Lastly, if you would like to produce MDA values, the </a:t>
            </a:r>
            <a:r>
              <a:rPr lang="en-US" dirty="0" err="1"/>
              <a:t>randomForest</a:t>
            </a:r>
            <a:r>
              <a:rPr lang="en-US" dirty="0"/>
              <a:t> package is kind enough to include a function that does this for you </a:t>
            </a:r>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p:txBody>
      </p:sp>
      <p:sp>
        <p:nvSpPr>
          <p:cNvPr id="6" name="TextBox 5">
            <a:extLst>
              <a:ext uri="{FF2B5EF4-FFF2-40B4-BE49-F238E27FC236}">
                <a16:creationId xmlns:a16="http://schemas.microsoft.com/office/drawing/2014/main" id="{ADF2795F-5709-4758-9502-F027EAC2C2A5}"/>
              </a:ext>
            </a:extLst>
          </p:cNvPr>
          <p:cNvSpPr txBox="1"/>
          <p:nvPr/>
        </p:nvSpPr>
        <p:spPr>
          <a:xfrm>
            <a:off x="1097280" y="3309524"/>
            <a:ext cx="6827520" cy="1200329"/>
          </a:xfrm>
          <a:prstGeom prst="rect">
            <a:avLst/>
          </a:prstGeom>
          <a:noFill/>
        </p:spPr>
        <p:txBody>
          <a:bodyPr wrap="square" rtlCol="0">
            <a:spAutoFit/>
          </a:bodyPr>
          <a:lstStyle/>
          <a:p>
            <a:r>
              <a:rPr lang="en-US" dirty="0"/>
              <a:t>As shown, the first item in the parenthesis of </a:t>
            </a:r>
            <a:r>
              <a:rPr lang="en-US" dirty="0" err="1"/>
              <a:t>varImpPlot</a:t>
            </a:r>
            <a:r>
              <a:rPr lang="en-US" dirty="0"/>
              <a:t> is the model you wish to use (</a:t>
            </a:r>
            <a:r>
              <a:rPr lang="en-US" dirty="0" err="1"/>
              <a:t>runtime.rf</a:t>
            </a:r>
            <a:r>
              <a:rPr lang="en-US" dirty="0"/>
              <a:t> in this case) and “</a:t>
            </a:r>
            <a:r>
              <a:rPr lang="en-US" dirty="0" err="1"/>
              <a:t>n.var</a:t>
            </a:r>
            <a:r>
              <a:rPr lang="en-US" dirty="0"/>
              <a:t>=“ is the number of features you want to list. This should output a plot in the bottom right corner of the screen.</a:t>
            </a:r>
          </a:p>
        </p:txBody>
      </p:sp>
      <p:pic>
        <p:nvPicPr>
          <p:cNvPr id="9" name="Content Placeholder 5">
            <a:extLst>
              <a:ext uri="{FF2B5EF4-FFF2-40B4-BE49-F238E27FC236}">
                <a16:creationId xmlns:a16="http://schemas.microsoft.com/office/drawing/2014/main" id="{1A656AC0-0558-4116-B577-A437D4AB782A}"/>
              </a:ext>
            </a:extLst>
          </p:cNvPr>
          <p:cNvPicPr>
            <a:picLocks noChangeAspect="1"/>
          </p:cNvPicPr>
          <p:nvPr/>
        </p:nvPicPr>
        <p:blipFill rotWithShape="1">
          <a:blip r:embed="rId2" cstate="print"/>
          <a:srcRect l="873" t="84407" r="55154" b="12084"/>
          <a:stretch/>
        </p:blipFill>
        <p:spPr>
          <a:xfrm>
            <a:off x="1097280" y="2655223"/>
            <a:ext cx="10637520" cy="477520"/>
          </a:xfrm>
          <a:prstGeom prst="rect">
            <a:avLst/>
          </a:prstGeom>
        </p:spPr>
      </p:pic>
      <p:pic>
        <p:nvPicPr>
          <p:cNvPr id="10" name="Picture 9" descr="A screenshot of a cell phone&#10;&#10;Description automatically generated">
            <a:extLst>
              <a:ext uri="{FF2B5EF4-FFF2-40B4-BE49-F238E27FC236}">
                <a16:creationId xmlns:a16="http://schemas.microsoft.com/office/drawing/2014/main" id="{21165230-51D8-4E3F-855D-788E47D641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8954" b="3559"/>
          <a:stretch/>
        </p:blipFill>
        <p:spPr>
          <a:xfrm>
            <a:off x="7810528" y="3309524"/>
            <a:ext cx="3842992" cy="2915920"/>
          </a:xfrm>
          <a:prstGeom prst="rect">
            <a:avLst/>
          </a:prstGeom>
        </p:spPr>
      </p:pic>
      <p:pic>
        <p:nvPicPr>
          <p:cNvPr id="11" name="Picture 10" descr="A screenshot of a cell phone&#10;&#10;Description automatically generated">
            <a:extLst>
              <a:ext uri="{FF2B5EF4-FFF2-40B4-BE49-F238E27FC236}">
                <a16:creationId xmlns:a16="http://schemas.microsoft.com/office/drawing/2014/main" id="{4250E03B-7D25-4CB3-B1C8-39BE7328268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095" b="92315"/>
          <a:stretch/>
        </p:blipFill>
        <p:spPr>
          <a:xfrm>
            <a:off x="8105168" y="3154757"/>
            <a:ext cx="3842992" cy="172720"/>
          </a:xfrm>
          <a:prstGeom prst="rect">
            <a:avLst/>
          </a:prstGeom>
        </p:spPr>
      </p:pic>
    </p:spTree>
    <p:extLst>
      <p:ext uri="{BB962C8B-B14F-4D97-AF65-F5344CB8AC3E}">
        <p14:creationId xmlns:p14="http://schemas.microsoft.com/office/powerpoint/2010/main" val="38767655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4C6D6-342F-4696-A3E3-C665276AA228}"/>
              </a:ext>
            </a:extLst>
          </p:cNvPr>
          <p:cNvSpPr>
            <a:spLocks noGrp="1"/>
          </p:cNvSpPr>
          <p:nvPr>
            <p:ph type="title"/>
          </p:nvPr>
        </p:nvSpPr>
        <p:spPr/>
        <p:txBody>
          <a:bodyPr/>
          <a:lstStyle/>
          <a:p>
            <a:r>
              <a:rPr lang="en-US" dirty="0"/>
              <a:t>Common issues</a:t>
            </a:r>
          </a:p>
        </p:txBody>
      </p:sp>
      <p:sp>
        <p:nvSpPr>
          <p:cNvPr id="3" name="Content Placeholder 2">
            <a:extLst>
              <a:ext uri="{FF2B5EF4-FFF2-40B4-BE49-F238E27FC236}">
                <a16:creationId xmlns:a16="http://schemas.microsoft.com/office/drawing/2014/main" id="{96AE857F-4EC7-471F-9A40-419CD5B0EC81}"/>
              </a:ext>
            </a:extLst>
          </p:cNvPr>
          <p:cNvSpPr>
            <a:spLocks noGrp="1"/>
          </p:cNvSpPr>
          <p:nvPr>
            <p:ph idx="1"/>
          </p:nvPr>
        </p:nvSpPr>
        <p:spPr>
          <a:xfrm>
            <a:off x="1097280" y="1845734"/>
            <a:ext cx="9997440" cy="4138506"/>
          </a:xfrm>
        </p:spPr>
        <p:txBody>
          <a:bodyPr>
            <a:normAutofit/>
          </a:bodyPr>
          <a:lstStyle/>
          <a:p>
            <a:r>
              <a:rPr lang="en-US" dirty="0"/>
              <a:t>Many times, errors you get while writing code can be things as simple as typos or capitalization errors. If something isn’t running, make sure the things you’re trying to implement are all spelled correctly, etc. </a:t>
            </a:r>
          </a:p>
          <a:p>
            <a:r>
              <a:rPr lang="en-US" dirty="0"/>
              <a:t>If not capitalization, make sure the various parameters your calling within a function (</a:t>
            </a:r>
            <a:r>
              <a:rPr lang="en-US" dirty="0" err="1"/>
              <a:t>ntree</a:t>
            </a:r>
            <a:r>
              <a:rPr lang="en-US" dirty="0"/>
              <a:t> and </a:t>
            </a:r>
            <a:r>
              <a:rPr lang="en-US" dirty="0" err="1"/>
              <a:t>mtry</a:t>
            </a:r>
            <a:r>
              <a:rPr lang="en-US" dirty="0"/>
              <a:t> within </a:t>
            </a:r>
            <a:r>
              <a:rPr lang="en-US" dirty="0" err="1"/>
              <a:t>randomForest</a:t>
            </a:r>
            <a:r>
              <a:rPr lang="en-US" dirty="0"/>
              <a:t>() for example) all have a comma separating them. Your system needs these to know when one value ends, and another begins, etc.</a:t>
            </a:r>
          </a:p>
          <a:p>
            <a:pPr marL="0" indent="0">
              <a:buNone/>
            </a:pPr>
            <a:endParaRPr lang="en-US" dirty="0"/>
          </a:p>
          <a:p>
            <a:endParaRPr lang="en-US" dirty="0">
              <a:solidFill>
                <a:srgbClr val="FF0000"/>
              </a:solidFill>
            </a:endParaRPr>
          </a:p>
          <a:p>
            <a:endParaRPr lang="en-US" dirty="0">
              <a:solidFill>
                <a:srgbClr val="FF0000"/>
              </a:solidFill>
            </a:endParaRPr>
          </a:p>
          <a:p>
            <a:endParaRPr lang="en-US" dirty="0">
              <a:solidFill>
                <a:srgbClr val="FF0000"/>
              </a:solidFill>
            </a:endParaRPr>
          </a:p>
        </p:txBody>
      </p:sp>
    </p:spTree>
    <p:extLst>
      <p:ext uri="{BB962C8B-B14F-4D97-AF65-F5344CB8AC3E}">
        <p14:creationId xmlns:p14="http://schemas.microsoft.com/office/powerpoint/2010/main" val="36099723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4C6D6-342F-4696-A3E3-C665276AA228}"/>
              </a:ext>
            </a:extLst>
          </p:cNvPr>
          <p:cNvSpPr>
            <a:spLocks noGrp="1"/>
          </p:cNvSpPr>
          <p:nvPr>
            <p:ph type="title"/>
          </p:nvPr>
        </p:nvSpPr>
        <p:spPr/>
        <p:txBody>
          <a:bodyPr/>
          <a:lstStyle/>
          <a:p>
            <a:r>
              <a:rPr lang="en-US" dirty="0"/>
              <a:t>Common issues/ Missing Values</a:t>
            </a:r>
          </a:p>
        </p:txBody>
      </p:sp>
      <p:sp>
        <p:nvSpPr>
          <p:cNvPr id="3" name="Content Placeholder 2">
            <a:extLst>
              <a:ext uri="{FF2B5EF4-FFF2-40B4-BE49-F238E27FC236}">
                <a16:creationId xmlns:a16="http://schemas.microsoft.com/office/drawing/2014/main" id="{96AE857F-4EC7-471F-9A40-419CD5B0EC81}"/>
              </a:ext>
            </a:extLst>
          </p:cNvPr>
          <p:cNvSpPr>
            <a:spLocks noGrp="1"/>
          </p:cNvSpPr>
          <p:nvPr>
            <p:ph idx="1"/>
          </p:nvPr>
        </p:nvSpPr>
        <p:spPr>
          <a:xfrm>
            <a:off x="1097280" y="1845734"/>
            <a:ext cx="9997440" cy="4138506"/>
          </a:xfrm>
        </p:spPr>
        <p:txBody>
          <a:bodyPr>
            <a:normAutofit/>
          </a:bodyPr>
          <a:lstStyle/>
          <a:p>
            <a:pPr marL="0" indent="0">
              <a:buNone/>
            </a:pPr>
            <a:r>
              <a:rPr lang="en-US" dirty="0"/>
              <a:t>One issue you may have in getting your model to run is there are values missing, so it gives you an error. There are a few ways and methods to circumvent this issue, ill explain one within </a:t>
            </a:r>
            <a:r>
              <a:rPr lang="en-US" dirty="0" err="1"/>
              <a:t>randomForest</a:t>
            </a:r>
            <a:r>
              <a:rPr lang="en-US" dirty="0"/>
              <a:t>() here. </a:t>
            </a:r>
          </a:p>
          <a:p>
            <a:pPr marL="0" indent="0">
              <a:buNone/>
            </a:pPr>
            <a:r>
              <a:rPr lang="en-US" dirty="0"/>
              <a:t>Within </a:t>
            </a:r>
            <a:r>
              <a:rPr lang="en-US" dirty="0" err="1"/>
              <a:t>randomForest</a:t>
            </a:r>
            <a:r>
              <a:rPr lang="en-US" dirty="0"/>
              <a:t>(), you can specify how your model handles missing values by adding a new parameter within the parenthesis. “</a:t>
            </a:r>
            <a:r>
              <a:rPr lang="en-US" dirty="0" err="1"/>
              <a:t>na.action</a:t>
            </a:r>
            <a:r>
              <a:rPr lang="en-US" dirty="0"/>
              <a:t>=” is this parameter (just as </a:t>
            </a:r>
            <a:r>
              <a:rPr lang="en-US" dirty="0" err="1"/>
              <a:t>ntree</a:t>
            </a:r>
            <a:r>
              <a:rPr lang="en-US" dirty="0"/>
              <a:t>=“, but you need to specify how it is you want to fill in the missing data</a:t>
            </a:r>
          </a:p>
          <a:p>
            <a:pPr>
              <a:buFont typeface="Arial" panose="020B0604020202020204" pitchFamily="34" charset="0"/>
              <a:buChar char="•"/>
            </a:pPr>
            <a:r>
              <a:rPr lang="en-US" dirty="0"/>
              <a:t>(</a:t>
            </a:r>
            <a:r>
              <a:rPr lang="en-US" dirty="0" err="1"/>
              <a:t>na.action</a:t>
            </a:r>
            <a:r>
              <a:rPr lang="en-US" dirty="0"/>
              <a:t>=</a:t>
            </a:r>
            <a:r>
              <a:rPr lang="en-US" dirty="0" err="1"/>
              <a:t>na.omit</a:t>
            </a:r>
            <a:r>
              <a:rPr lang="en-US" dirty="0"/>
              <a:t>) will omit the data,</a:t>
            </a:r>
          </a:p>
          <a:p>
            <a:pPr lvl="1">
              <a:buFont typeface="Arial" panose="020B0604020202020204" pitchFamily="34" charset="0"/>
              <a:buChar char="•"/>
            </a:pPr>
            <a:r>
              <a:rPr lang="en-US" dirty="0"/>
              <a:t>Example: </a:t>
            </a:r>
            <a:r>
              <a:rPr lang="en-US" dirty="0" err="1"/>
              <a:t>iris.narf</a:t>
            </a:r>
            <a:r>
              <a:rPr lang="en-US" dirty="0"/>
              <a:t> &lt;- </a:t>
            </a:r>
            <a:r>
              <a:rPr lang="en-US" dirty="0" err="1"/>
              <a:t>randomForest</a:t>
            </a:r>
            <a:r>
              <a:rPr lang="en-US" dirty="0"/>
              <a:t>(Species ~ ., data= iris.na, </a:t>
            </a:r>
            <a:r>
              <a:rPr lang="en-US" dirty="0" err="1">
                <a:solidFill>
                  <a:srgbClr val="FF0000"/>
                </a:solidFill>
              </a:rPr>
              <a:t>na.action</a:t>
            </a:r>
            <a:r>
              <a:rPr lang="en-US" dirty="0">
                <a:solidFill>
                  <a:srgbClr val="FF0000"/>
                </a:solidFill>
              </a:rPr>
              <a:t>=</a:t>
            </a:r>
            <a:r>
              <a:rPr lang="en-US" dirty="0" err="1">
                <a:solidFill>
                  <a:srgbClr val="FF0000"/>
                </a:solidFill>
              </a:rPr>
              <a:t>na.omit</a:t>
            </a:r>
            <a:r>
              <a:rPr lang="en-US" dirty="0">
                <a:solidFill>
                  <a:srgbClr val="FF0000"/>
                </a:solidFill>
              </a:rPr>
              <a:t>)</a:t>
            </a:r>
            <a:endParaRPr lang="en-US" b="1" dirty="0"/>
          </a:p>
          <a:p>
            <a:pPr>
              <a:buFont typeface="Arial" panose="020B0604020202020204" pitchFamily="34" charset="0"/>
              <a:buChar char="•"/>
            </a:pPr>
            <a:r>
              <a:rPr lang="en-US" dirty="0"/>
              <a:t>(</a:t>
            </a:r>
            <a:r>
              <a:rPr lang="en-US" dirty="0" err="1"/>
              <a:t>na.action</a:t>
            </a:r>
            <a:r>
              <a:rPr lang="en-US" dirty="0"/>
              <a:t>=</a:t>
            </a:r>
            <a:r>
              <a:rPr lang="en-US" dirty="0" err="1"/>
              <a:t>na.roughfix</a:t>
            </a:r>
            <a:r>
              <a:rPr lang="en-US" dirty="0"/>
              <a:t>) will impute the missing value by its median value. </a:t>
            </a:r>
          </a:p>
          <a:p>
            <a:pPr lvl="1">
              <a:buFont typeface="Arial" panose="020B0604020202020204" pitchFamily="34" charset="0"/>
              <a:buChar char="•"/>
            </a:pPr>
            <a:r>
              <a:rPr lang="en-US" dirty="0"/>
              <a:t>Example: </a:t>
            </a:r>
            <a:r>
              <a:rPr lang="en-US" dirty="0" err="1"/>
              <a:t>iris.narf</a:t>
            </a:r>
            <a:r>
              <a:rPr lang="en-US" dirty="0"/>
              <a:t> &lt;- </a:t>
            </a:r>
            <a:r>
              <a:rPr lang="en-US" dirty="0" err="1"/>
              <a:t>randomForest</a:t>
            </a:r>
            <a:r>
              <a:rPr lang="en-US" dirty="0"/>
              <a:t>(Species ~ ., data= iris.na, </a:t>
            </a:r>
            <a:r>
              <a:rPr lang="en-US" dirty="0" err="1">
                <a:solidFill>
                  <a:srgbClr val="FF0000"/>
                </a:solidFill>
              </a:rPr>
              <a:t>na.action</a:t>
            </a:r>
            <a:r>
              <a:rPr lang="en-US" dirty="0">
                <a:solidFill>
                  <a:srgbClr val="FF0000"/>
                </a:solidFill>
              </a:rPr>
              <a:t>=</a:t>
            </a:r>
            <a:r>
              <a:rPr lang="en-US" dirty="0" err="1">
                <a:solidFill>
                  <a:srgbClr val="FF0000"/>
                </a:solidFill>
              </a:rPr>
              <a:t>na.roughfix</a:t>
            </a:r>
            <a:r>
              <a:rPr lang="en-US" dirty="0">
                <a:solidFill>
                  <a:srgbClr val="FF0000"/>
                </a:solidFill>
              </a:rPr>
              <a:t>)</a:t>
            </a:r>
          </a:p>
          <a:p>
            <a:r>
              <a:rPr lang="en-US" dirty="0">
                <a:solidFill>
                  <a:srgbClr val="FF0000"/>
                </a:solidFill>
              </a:rPr>
              <a:t>For more info, check out </a:t>
            </a:r>
            <a:r>
              <a:rPr lang="en-US" dirty="0">
                <a:hlinkClick r:id="rId2"/>
              </a:rPr>
              <a:t>https://rdrr.io/rforge/randomForest/man/na.roughfix.html</a:t>
            </a:r>
            <a:endParaRPr lang="en-US" dirty="0">
              <a:solidFill>
                <a:srgbClr val="FF0000"/>
              </a:solidFill>
            </a:endParaRPr>
          </a:p>
        </p:txBody>
      </p:sp>
    </p:spTree>
    <p:extLst>
      <p:ext uri="{BB962C8B-B14F-4D97-AF65-F5344CB8AC3E}">
        <p14:creationId xmlns:p14="http://schemas.microsoft.com/office/powerpoint/2010/main" val="23119425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1358</TotalTime>
  <Words>2410</Words>
  <Application>Microsoft Office PowerPoint</Application>
  <PresentationFormat>Widescreen</PresentationFormat>
  <Paragraphs>113</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Retrospect</vt:lpstr>
      <vt:lpstr>An Introduction to RF with R and R Studio</vt:lpstr>
      <vt:lpstr>Outline</vt:lpstr>
      <vt:lpstr>What is R?</vt:lpstr>
      <vt:lpstr>What is R Studio? </vt:lpstr>
      <vt:lpstr>Installing R Studio in Anaconda </vt:lpstr>
      <vt:lpstr>Installing R Studio in Anaconda </vt:lpstr>
      <vt:lpstr>Using R Studio in Anaconda </vt:lpstr>
      <vt:lpstr>R/ R Studio without Anaconda </vt:lpstr>
      <vt:lpstr>Using R Studio in Anaconda </vt:lpstr>
      <vt:lpstr>Running RF tutorial in R Studio</vt:lpstr>
      <vt:lpstr>Running RF tutorial in R Studio</vt:lpstr>
      <vt:lpstr>Running RF tutorial in R Studio</vt:lpstr>
      <vt:lpstr>Running RF tutorial in R Studio</vt:lpstr>
      <vt:lpstr>Running RF tutorial in R Studio</vt:lpstr>
      <vt:lpstr>RF tutorial using R Studio </vt:lpstr>
      <vt:lpstr>PowerPoint Presentation</vt:lpstr>
      <vt:lpstr>RF tutorial using R Studio </vt:lpstr>
      <vt:lpstr>RF tutorial using R Studio </vt:lpstr>
      <vt:lpstr>RF tutorial using R Studio </vt:lpstr>
      <vt:lpstr>RF tutorial using R Studio </vt:lpstr>
      <vt:lpstr>RF tutorial using R Studio </vt:lpstr>
      <vt:lpstr>RF tutorial using R Studio </vt:lpstr>
      <vt:lpstr>RF tutorial using R Studio </vt:lpstr>
      <vt:lpstr>RF tutorial using R Studio </vt:lpstr>
      <vt:lpstr>Common issues</vt:lpstr>
      <vt:lpstr>Common issues/ Missing Values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RF with R and R Studio</dc:title>
  <dc:creator>Kenneth Rauen</dc:creator>
  <cp:lastModifiedBy>Dragutin Petkovic</cp:lastModifiedBy>
  <cp:revision>40</cp:revision>
  <dcterms:created xsi:type="dcterms:W3CDTF">2020-03-10T18:46:37Z</dcterms:created>
  <dcterms:modified xsi:type="dcterms:W3CDTF">2026-02-16T01:50:17Z</dcterms:modified>
</cp:coreProperties>
</file>